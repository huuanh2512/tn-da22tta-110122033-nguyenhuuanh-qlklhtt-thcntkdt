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3849" autoAdjust="0"/>
  </p:normalViewPr>
  <p:slideViewPr>
    <p:cSldViewPr>
      <p:cViewPr varScale="1">
        <p:scale>
          <a:sx n="51" d="100"/>
          <a:sy n="51" d="100"/>
        </p:scale>
        <p:origin x="1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9A1F6-3CED-481D-9617-A85E428365A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B0E7C-15E5-495B-923B-9ACC6CB5E9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9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Kính</a:t>
            </a:r>
            <a:r>
              <a:rPr lang="en-US" dirty="0"/>
              <a:t> </a:t>
            </a:r>
            <a:r>
              <a:rPr lang="en-US" dirty="0" err="1"/>
              <a:t>thưa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Nguyễn Hữu Anh</a:t>
            </a:r>
            <a:r>
              <a:rPr lang="en-US" dirty="0"/>
              <a:t>,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DA22TTA, </a:t>
            </a:r>
            <a:r>
              <a:rPr lang="en-US" dirty="0" err="1"/>
              <a:t>ngành</a:t>
            </a:r>
            <a:r>
              <a:rPr lang="en-US" dirty="0"/>
              <a:t> Công </a:t>
            </a:r>
            <a:r>
              <a:rPr lang="en-US" dirty="0" err="1"/>
              <a:t>nghệ</a:t>
            </a:r>
            <a:r>
              <a:rPr lang="en-US" dirty="0"/>
              <a:t> Thông tin, Trường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Trà Vinh.</a:t>
            </a:r>
          </a:p>
          <a:p>
            <a:r>
              <a:rPr lang="en-US" dirty="0" err="1"/>
              <a:t>Hôm</a:t>
            </a:r>
            <a:r>
              <a:rPr lang="en-US" dirty="0"/>
              <a:t> nay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:</a:t>
            </a:r>
          </a:p>
          <a:p>
            <a:r>
              <a:rPr lang="en-US" b="1" dirty="0"/>
              <a:t>"</a:t>
            </a:r>
            <a:r>
              <a:rPr lang="en-US" b="1" dirty="0" err="1"/>
              <a:t>Xây</a:t>
            </a:r>
            <a:r>
              <a:rPr lang="en-US" b="1" dirty="0"/>
              <a:t> </a:t>
            </a:r>
            <a:r>
              <a:rPr lang="en-US" b="1" dirty="0" err="1"/>
              <a:t>dựng</a:t>
            </a:r>
            <a:r>
              <a:rPr lang="en-US" b="1" dirty="0"/>
              <a:t>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di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khu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thể</a:t>
            </a:r>
            <a:r>
              <a:rPr lang="en-US" b="1" dirty="0"/>
              <a:t> </a:t>
            </a:r>
            <a:r>
              <a:rPr lang="en-US" b="1" dirty="0" err="1"/>
              <a:t>thao</a:t>
            </a:r>
            <a:r>
              <a:rPr lang="en-US" b="1" dirty="0"/>
              <a:t>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kiếm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thủ</a:t>
            </a:r>
            <a:r>
              <a:rPr lang="en-US" b="1" dirty="0"/>
              <a:t>."</a:t>
            </a:r>
            <a:endParaRPr lang="en-US" dirty="0"/>
          </a:p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Android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Website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75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,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,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.</a:t>
            </a:r>
          </a:p>
          <a:p>
            <a:r>
              <a:rPr lang="en-US" dirty="0"/>
              <a:t>Tuy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Excel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  <a:p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nay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.</a:t>
            </a:r>
          </a:p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trải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62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endParaRPr lang="en-US" dirty="0"/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Android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Flutter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Website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React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,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5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 err="1"/>
              <a:t>khách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dirty="0"/>
              <a:t>,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b="1" dirty="0" err="1"/>
              <a:t>Nhân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dirty="0"/>
              <a:t> </a:t>
            </a:r>
            <a:r>
              <a:rPr lang="en-US" dirty="0" err="1"/>
              <a:t>chịu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booking,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r>
              <a:rPr lang="en-US" b="1" dirty="0"/>
              <a:t>Quản </a:t>
            </a:r>
            <a:r>
              <a:rPr lang="en-US" b="1" dirty="0" err="1"/>
              <a:t>trị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11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.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,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.</a:t>
            </a:r>
          </a:p>
          <a:p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ZaloPay</a:t>
            </a:r>
            <a:r>
              <a:rPr lang="en-US" dirty="0"/>
              <a:t> Sandbox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.</a:t>
            </a:r>
          </a:p>
          <a:p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qua Firebase Cloud Messaging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31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.</a:t>
            </a:r>
          </a:p>
          <a:p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Android Flutter </a:t>
            </a:r>
            <a:r>
              <a:rPr lang="en-US" dirty="0" err="1"/>
              <a:t>và</a:t>
            </a:r>
            <a:r>
              <a:rPr lang="en-US" dirty="0"/>
              <a:t> Website React.</a:t>
            </a:r>
          </a:p>
          <a:p>
            <a:r>
              <a:rPr lang="en-US" dirty="0"/>
              <a:t>Hai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Backend </a:t>
            </a:r>
            <a:r>
              <a:rPr lang="en-US" dirty="0" err="1"/>
              <a:t>thông</a:t>
            </a:r>
            <a:r>
              <a:rPr lang="en-US" dirty="0"/>
              <a:t> qua REST API.</a:t>
            </a:r>
          </a:p>
          <a:p>
            <a:r>
              <a:rPr lang="en-US" dirty="0"/>
              <a:t>Backend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Node.js </a:t>
            </a:r>
            <a:r>
              <a:rPr lang="en-US" dirty="0" err="1"/>
              <a:t>và</a:t>
            </a:r>
            <a:r>
              <a:rPr lang="en-US" dirty="0"/>
              <a:t> Express, </a:t>
            </a:r>
            <a:r>
              <a:rPr lang="en-US" dirty="0" err="1"/>
              <a:t>chịu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,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,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.</a:t>
            </a:r>
          </a:p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MongoDB.</a:t>
            </a:r>
          </a:p>
          <a:p>
            <a:r>
              <a:rPr lang="en-US" dirty="0"/>
              <a:t>Firebase Authentication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, </a:t>
            </a:r>
            <a:r>
              <a:rPr lang="en-US" dirty="0" err="1"/>
              <a:t>còn</a:t>
            </a:r>
            <a:r>
              <a:rPr lang="en-US" dirty="0"/>
              <a:t> Firebase Cloud Messaging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di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Cloudinary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;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ZaloPay</a:t>
            </a:r>
            <a:r>
              <a:rPr lang="en-US" dirty="0"/>
              <a:t> Sandbox.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19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.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booking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</a:t>
            </a:r>
          </a:p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,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booking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Website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57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.</a:t>
            </a:r>
          </a:p>
          <a:p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,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chơi</a:t>
            </a:r>
            <a:r>
              <a:rPr lang="en-US" dirty="0"/>
              <a:t>.</a:t>
            </a:r>
          </a:p>
          <a:p>
            <a:r>
              <a:rPr lang="en-US" dirty="0"/>
              <a:t>Các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chơi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.</a:t>
            </a:r>
          </a:p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ghép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Firebase Cloud Messaging.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92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,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Android Flutter </a:t>
            </a:r>
            <a:r>
              <a:rPr lang="en-US" dirty="0" err="1"/>
              <a:t>và</a:t>
            </a:r>
            <a:r>
              <a:rPr lang="en-US" dirty="0"/>
              <a:t> Website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React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r>
              <a:rPr lang="en-US" dirty="0"/>
              <a:t>Các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,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Firebase Authentication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, Firebase Cloud Messaging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ZaloPay</a:t>
            </a:r>
            <a:r>
              <a:rPr lang="en-US" dirty="0"/>
              <a:t> Sandbox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.</a:t>
            </a:r>
          </a:p>
          <a:p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lai.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306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Android </a:t>
            </a:r>
            <a:r>
              <a:rPr lang="en-US" dirty="0" err="1"/>
              <a:t>và</a:t>
            </a:r>
            <a:r>
              <a:rPr lang="en-US" dirty="0"/>
              <a:t> Website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.</a:t>
            </a:r>
          </a:p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trải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sân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.</a:t>
            </a:r>
          </a:p>
          <a:p>
            <a:r>
              <a:rPr lang="en-US" dirty="0"/>
              <a:t>Trong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,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ZaloPay</a:t>
            </a:r>
            <a:r>
              <a:rPr lang="en-US" dirty="0"/>
              <a:t> Production,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iOS,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Machine Learning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ghép</a:t>
            </a:r>
            <a:r>
              <a:rPr lang="en-US" dirty="0"/>
              <a:t>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trải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87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.</a:t>
            </a:r>
          </a:p>
          <a:p>
            <a:r>
              <a:rPr lang="en-US" dirty="0"/>
              <a:t>Em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kính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ý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B0E7C-15E5-495B-923B-9ACC6CB5E97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5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2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1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8.svg"/><Relationship Id="rId9" Type="http://schemas.openxmlformats.org/officeDocument/2006/relationships/image" Target="../media/image2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787783">
            <a:off x="1765300" y="10149589"/>
            <a:ext cx="13758345" cy="7410406"/>
            <a:chOff x="0" y="0"/>
            <a:chExt cx="1296853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787783">
            <a:off x="5129591" y="9086430"/>
            <a:ext cx="13531543" cy="3065584"/>
            <a:chOff x="0" y="0"/>
            <a:chExt cx="3083192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1787783">
            <a:off x="10578981" y="-1870630"/>
            <a:ext cx="13758345" cy="7410406"/>
            <a:chOff x="0" y="0"/>
            <a:chExt cx="1296853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1787783">
            <a:off x="9316170" y="-96463"/>
            <a:ext cx="14503583" cy="7811799"/>
            <a:chOff x="0" y="0"/>
            <a:chExt cx="1296853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95487" y="939081"/>
            <a:ext cx="7226346" cy="8408839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0819302" y="1229804"/>
            <a:ext cx="6778716" cy="7827392"/>
            <a:chOff x="0" y="0"/>
            <a:chExt cx="31287555" cy="3612777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1287467" cy="36127817"/>
            </a:xfrm>
            <a:custGeom>
              <a:avLst/>
              <a:gdLst/>
              <a:ahLst/>
              <a:cxnLst/>
              <a:rect l="l" t="t" r="r" b="b"/>
              <a:pathLst>
                <a:path w="31287467" h="36127817">
                  <a:moveTo>
                    <a:pt x="15643733" y="0"/>
                  </a:moveTo>
                  <a:lnTo>
                    <a:pt x="0" y="9031859"/>
                  </a:lnTo>
                  <a:lnTo>
                    <a:pt x="0" y="27095831"/>
                  </a:lnTo>
                  <a:lnTo>
                    <a:pt x="15643733" y="36127817"/>
                  </a:lnTo>
                  <a:lnTo>
                    <a:pt x="31287467" y="27095958"/>
                  </a:lnTo>
                  <a:lnTo>
                    <a:pt x="31287467" y="9031859"/>
                  </a:lnTo>
                  <a:lnTo>
                    <a:pt x="15643861" y="0"/>
                  </a:lnTo>
                  <a:close/>
                </a:path>
              </a:pathLst>
            </a:custGeom>
            <a:blipFill>
              <a:blip r:embed="rId3"/>
              <a:stretch>
                <a:fillRect t="-3540" b="-3540"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034729" y="1028700"/>
            <a:ext cx="801545" cy="925749"/>
          </a:xfrm>
          <a:custGeom>
            <a:avLst/>
            <a:gdLst/>
            <a:ahLst/>
            <a:cxnLst/>
            <a:rect l="l" t="t" r="r" b="b"/>
            <a:pathLst>
              <a:path w="801545" h="925749">
                <a:moveTo>
                  <a:pt x="0" y="0"/>
                </a:moveTo>
                <a:lnTo>
                  <a:pt x="801545" y="0"/>
                </a:lnTo>
                <a:lnTo>
                  <a:pt x="801545" y="925749"/>
                </a:lnTo>
                <a:lnTo>
                  <a:pt x="0" y="9257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981408" y="1028700"/>
            <a:ext cx="925749" cy="925749"/>
          </a:xfrm>
          <a:custGeom>
            <a:avLst/>
            <a:gdLst/>
            <a:ahLst/>
            <a:cxnLst/>
            <a:rect l="l" t="t" r="r" b="b"/>
            <a:pathLst>
              <a:path w="925749" h="925749">
                <a:moveTo>
                  <a:pt x="0" y="0"/>
                </a:moveTo>
                <a:lnTo>
                  <a:pt x="925749" y="0"/>
                </a:lnTo>
                <a:lnTo>
                  <a:pt x="925749" y="925749"/>
                </a:lnTo>
                <a:lnTo>
                  <a:pt x="0" y="9257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78146" y="1171518"/>
            <a:ext cx="5313735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59"/>
              </a:lnSpc>
            </a:pPr>
            <a:r>
              <a:rPr lang="en-US" sz="2157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Poppins"/>
              </a:rPr>
              <a:t>ĐẠI HỌC TRÀ VINH</a:t>
            </a:r>
          </a:p>
          <a:p>
            <a:pPr marL="0" lvl="0" indent="0" algn="l">
              <a:lnSpc>
                <a:spcPts val="2459"/>
              </a:lnSpc>
            </a:pPr>
            <a:r>
              <a:rPr lang="en-US" sz="2157" b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  <a:sym typeface="Poppins Semi-Bold"/>
              </a:rPr>
              <a:t>TRƯỜNG KỸ THUẬT VÀ CÔNG NGHỆ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6199" y="3563687"/>
            <a:ext cx="10112801" cy="15773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074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XÂY DỰNG ỨNG DỤNG DI ĐỘNG </a:t>
            </a:r>
          </a:p>
          <a:p>
            <a:pPr marL="0" lvl="0" indent="0">
              <a:lnSpc>
                <a:spcPts val="4074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QUẢN LÝ KHU LIÊN HỢP THỂ THAO </a:t>
            </a:r>
          </a:p>
          <a:p>
            <a:pPr marL="0" lvl="0" indent="0">
              <a:lnSpc>
                <a:spcPts val="4074"/>
              </a:lnSpc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TÍCH HỢP CHỨC NĂNG TÌM KIẾM ĐỐI THỦ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4729" y="5720426"/>
            <a:ext cx="6357153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3"/>
              </a:lnSpc>
            </a:pPr>
            <a:r>
              <a:rPr lang="en-US" sz="2450" b="1" spc="10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Sinh </a:t>
            </a:r>
            <a:r>
              <a:rPr lang="en-US" sz="2450" b="1" spc="10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viên</a:t>
            </a:r>
            <a:r>
              <a:rPr lang="en-US" sz="2450" b="1" spc="10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 Nguyễn Hữu Anh </a:t>
            </a:r>
          </a:p>
          <a:p>
            <a:pPr marL="0" lvl="0" indent="0" algn="l">
              <a:lnSpc>
                <a:spcPts val="2793"/>
              </a:lnSpc>
            </a:pPr>
            <a:r>
              <a:rPr lang="en-US" sz="2450" b="1" spc="10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MSSV: 110122033</a:t>
            </a:r>
          </a:p>
          <a:p>
            <a:pPr marL="0" lvl="0" indent="0" algn="l">
              <a:lnSpc>
                <a:spcPts val="2793"/>
              </a:lnSpc>
            </a:pPr>
            <a:r>
              <a:rPr lang="en-US" sz="2450" b="1" spc="10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Lớp</a:t>
            </a:r>
            <a:r>
              <a:rPr lang="en-US" sz="2450" b="1" spc="10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 DA22TTA</a:t>
            </a:r>
          </a:p>
          <a:p>
            <a:pPr marL="0" lvl="0" indent="0" algn="l">
              <a:lnSpc>
                <a:spcPts val="2793"/>
              </a:lnSpc>
            </a:pPr>
            <a:r>
              <a:rPr lang="en-US" sz="2450" b="1" spc="10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GVHD: </a:t>
            </a:r>
            <a:r>
              <a:rPr lang="en-US" sz="2450" b="1" spc="10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ThS</a:t>
            </a:r>
            <a:r>
              <a:rPr lang="en-US" sz="2450" b="1" spc="10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. Nguyễn Hoàng Duy Thiện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E4B68C-9B70-A151-DD21-FA15990E5A6C}"/>
              </a:ext>
            </a:extLst>
          </p:cNvPr>
          <p:cNvSpPr txBox="1"/>
          <p:nvPr/>
        </p:nvSpPr>
        <p:spPr>
          <a:xfrm>
            <a:off x="907133" y="2578003"/>
            <a:ext cx="4090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ĐỒ ÁN TỐT NGHIỆP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787783">
            <a:off x="1765300" y="10149589"/>
            <a:ext cx="13758345" cy="7410406"/>
            <a:chOff x="0" y="0"/>
            <a:chExt cx="1296853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787783">
            <a:off x="5129591" y="9086430"/>
            <a:ext cx="13531543" cy="3065584"/>
            <a:chOff x="0" y="0"/>
            <a:chExt cx="3083192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1787783">
            <a:off x="10578981" y="-1870630"/>
            <a:ext cx="13758345" cy="7410406"/>
            <a:chOff x="0" y="0"/>
            <a:chExt cx="1296853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1787783">
            <a:off x="9316170" y="-96463"/>
            <a:ext cx="14503583" cy="7811799"/>
            <a:chOff x="0" y="0"/>
            <a:chExt cx="1296853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 rot="-1813147">
            <a:off x="9836813" y="1312669"/>
            <a:ext cx="8743695" cy="7661663"/>
          </a:xfrm>
          <a:custGeom>
            <a:avLst/>
            <a:gdLst/>
            <a:ahLst/>
            <a:cxnLst/>
            <a:rect l="l" t="t" r="r" b="b"/>
            <a:pathLst>
              <a:path w="8743695" h="7661663">
                <a:moveTo>
                  <a:pt x="0" y="0"/>
                </a:moveTo>
                <a:lnTo>
                  <a:pt x="8743694" y="0"/>
                </a:lnTo>
                <a:lnTo>
                  <a:pt x="8743694" y="7661662"/>
                </a:lnTo>
                <a:lnTo>
                  <a:pt x="0" y="766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0595487" y="939081"/>
            <a:ext cx="7226346" cy="8408839"/>
            <a:chOff x="0" y="0"/>
            <a:chExt cx="6985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819302" y="1229804"/>
            <a:ext cx="6778716" cy="7827392"/>
            <a:chOff x="0" y="0"/>
            <a:chExt cx="31287555" cy="361277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287467" cy="36127817"/>
            </a:xfrm>
            <a:custGeom>
              <a:avLst/>
              <a:gdLst/>
              <a:ahLst/>
              <a:cxnLst/>
              <a:rect l="l" t="t" r="r" b="b"/>
              <a:pathLst>
                <a:path w="31287467" h="36127817">
                  <a:moveTo>
                    <a:pt x="15643733" y="0"/>
                  </a:moveTo>
                  <a:lnTo>
                    <a:pt x="0" y="9031859"/>
                  </a:lnTo>
                  <a:lnTo>
                    <a:pt x="0" y="27095831"/>
                  </a:lnTo>
                  <a:lnTo>
                    <a:pt x="15643733" y="36127817"/>
                  </a:lnTo>
                  <a:lnTo>
                    <a:pt x="31287467" y="27095958"/>
                  </a:lnTo>
                  <a:lnTo>
                    <a:pt x="31287467" y="9031859"/>
                  </a:lnTo>
                  <a:lnTo>
                    <a:pt x="15643861" y="0"/>
                  </a:lnTo>
                  <a:close/>
                </a:path>
              </a:pathLst>
            </a:custGeom>
            <a:blipFill>
              <a:blip r:embed="rId4"/>
              <a:stretch>
                <a:fillRect t="-3540" b="-3540"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1834573"/>
            <a:ext cx="7305263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71"/>
              </a:lnSpc>
            </a:pP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Lý Do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Chọn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Đề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Tài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03623" y="3799912"/>
            <a:ext cx="431588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Nhu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Cầu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Thực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Tiễn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Tăng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Cao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503623" y="5616377"/>
            <a:ext cx="472649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Quản Lý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Thủ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Công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Còn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Nhiều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Hạn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Chế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503623" y="7565425"/>
            <a:ext cx="431588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</a:pP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Giải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Pháp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Số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Hóa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Toàn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Diện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1028700" y="3809437"/>
            <a:ext cx="1178881" cy="1013101"/>
            <a:chOff x="0" y="0"/>
            <a:chExt cx="1571841" cy="1350801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71841" cy="1350801"/>
              <a:chOff x="0" y="0"/>
              <a:chExt cx="812800" cy="6985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24A59"/>
              </a:solidFill>
              <a:ln w="57150" cap="sq">
                <a:solidFill>
                  <a:srgbClr val="FFA91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</a:pPr>
                <a:endParaRPr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8" name="Freeform 28"/>
            <p:cNvSpPr/>
            <p:nvPr/>
          </p:nvSpPr>
          <p:spPr>
            <a:xfrm>
              <a:off x="311131" y="262927"/>
              <a:ext cx="949580" cy="824947"/>
            </a:xfrm>
            <a:custGeom>
              <a:avLst/>
              <a:gdLst/>
              <a:ahLst/>
              <a:cxnLst/>
              <a:rect l="l" t="t" r="r" b="b"/>
              <a:pathLst>
                <a:path w="949580" h="824947">
                  <a:moveTo>
                    <a:pt x="0" y="0"/>
                  </a:moveTo>
                  <a:lnTo>
                    <a:pt x="949579" y="0"/>
                  </a:lnTo>
                  <a:lnTo>
                    <a:pt x="949579" y="824947"/>
                  </a:lnTo>
                  <a:lnTo>
                    <a:pt x="0" y="824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700" y="5619642"/>
            <a:ext cx="1178881" cy="1013101"/>
            <a:chOff x="0" y="0"/>
            <a:chExt cx="1571841" cy="1350801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571841" cy="1350801"/>
              <a:chOff x="0" y="0"/>
              <a:chExt cx="812800" cy="6985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24A59"/>
              </a:solidFill>
              <a:ln w="57150" cap="sq">
                <a:solidFill>
                  <a:srgbClr val="FFA91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</a:pPr>
                <a:endParaRPr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311131" y="262927"/>
              <a:ext cx="949580" cy="824947"/>
            </a:xfrm>
            <a:custGeom>
              <a:avLst/>
              <a:gdLst/>
              <a:ahLst/>
              <a:cxnLst/>
              <a:rect l="l" t="t" r="r" b="b"/>
              <a:pathLst>
                <a:path w="949580" h="824947">
                  <a:moveTo>
                    <a:pt x="0" y="0"/>
                  </a:moveTo>
                  <a:lnTo>
                    <a:pt x="949579" y="0"/>
                  </a:lnTo>
                  <a:lnTo>
                    <a:pt x="949579" y="824947"/>
                  </a:lnTo>
                  <a:lnTo>
                    <a:pt x="0" y="824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28700" y="7568690"/>
            <a:ext cx="1178881" cy="1013101"/>
            <a:chOff x="0" y="0"/>
            <a:chExt cx="1571841" cy="1350801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1571841" cy="1350801"/>
              <a:chOff x="0" y="0"/>
              <a:chExt cx="812800" cy="698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24A59"/>
              </a:solidFill>
              <a:ln w="57150" cap="sq">
                <a:solidFill>
                  <a:srgbClr val="FFA91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60"/>
                  </a:lnSpc>
                </a:pPr>
                <a:endParaRPr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311131" y="262927"/>
              <a:ext cx="949580" cy="824947"/>
            </a:xfrm>
            <a:custGeom>
              <a:avLst/>
              <a:gdLst/>
              <a:ahLst/>
              <a:cxnLst/>
              <a:rect l="l" t="t" r="r" b="b"/>
              <a:pathLst>
                <a:path w="949580" h="824947">
                  <a:moveTo>
                    <a:pt x="0" y="0"/>
                  </a:moveTo>
                  <a:lnTo>
                    <a:pt x="949579" y="0"/>
                  </a:lnTo>
                  <a:lnTo>
                    <a:pt x="949579" y="824947"/>
                  </a:lnTo>
                  <a:lnTo>
                    <a:pt x="0" y="824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503623" y="4287412"/>
            <a:ext cx="714362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73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Nhu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cầu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kiếm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đối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thể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thao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ngày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càng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tăng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mạnh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mẽ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biệt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tại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khu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liên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thể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thao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môn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503623" y="6103878"/>
            <a:ext cx="714362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73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công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dễ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xảy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ra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trùng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khó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dõi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doanh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thu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sử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giao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dịch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gây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thất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thoát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giảm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hiệu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vận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hành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503623" y="8052925"/>
            <a:ext cx="714362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73"/>
              </a:lnSpc>
            </a:pP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Xây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dựng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Android &amp; Web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giúp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số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hóa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toàn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bộ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quy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trình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: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đối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tập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trung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995798">
            <a:off x="4899020" y="11022230"/>
            <a:ext cx="13531543" cy="3065584"/>
            <a:chOff x="0" y="0"/>
            <a:chExt cx="3083192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8995798">
            <a:off x="-355651" y="9121343"/>
            <a:ext cx="13531543" cy="3065584"/>
            <a:chOff x="0" y="0"/>
            <a:chExt cx="3083192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8998130">
            <a:off x="-5149813" y="-1738765"/>
            <a:ext cx="12822069" cy="6906116"/>
            <a:chOff x="0" y="0"/>
            <a:chExt cx="1296853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8998130">
            <a:off x="-5506703" y="-114237"/>
            <a:ext cx="14503583" cy="7811799"/>
            <a:chOff x="0" y="0"/>
            <a:chExt cx="1296853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 rot="-1813147">
            <a:off x="-280493" y="1312669"/>
            <a:ext cx="8743695" cy="7661663"/>
          </a:xfrm>
          <a:custGeom>
            <a:avLst/>
            <a:gdLst/>
            <a:ahLst/>
            <a:cxnLst/>
            <a:rect l="l" t="t" r="r" b="b"/>
            <a:pathLst>
              <a:path w="8743695" h="7661663">
                <a:moveTo>
                  <a:pt x="0" y="0"/>
                </a:moveTo>
                <a:lnTo>
                  <a:pt x="8743694" y="0"/>
                </a:lnTo>
                <a:lnTo>
                  <a:pt x="8743694" y="7661662"/>
                </a:lnTo>
                <a:lnTo>
                  <a:pt x="0" y="766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478181" y="939081"/>
            <a:ext cx="7226346" cy="8408839"/>
            <a:chOff x="0" y="0"/>
            <a:chExt cx="6985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01996" y="1229804"/>
            <a:ext cx="6778716" cy="7827392"/>
            <a:chOff x="0" y="0"/>
            <a:chExt cx="31287555" cy="361277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287467" cy="36127817"/>
            </a:xfrm>
            <a:custGeom>
              <a:avLst/>
              <a:gdLst/>
              <a:ahLst/>
              <a:cxnLst/>
              <a:rect l="l" t="t" r="r" b="b"/>
              <a:pathLst>
                <a:path w="31287467" h="36127817">
                  <a:moveTo>
                    <a:pt x="15643733" y="0"/>
                  </a:moveTo>
                  <a:lnTo>
                    <a:pt x="0" y="9031859"/>
                  </a:lnTo>
                  <a:lnTo>
                    <a:pt x="0" y="27095831"/>
                  </a:lnTo>
                  <a:lnTo>
                    <a:pt x="15643733" y="36127817"/>
                  </a:lnTo>
                  <a:lnTo>
                    <a:pt x="31287467" y="27095958"/>
                  </a:lnTo>
                  <a:lnTo>
                    <a:pt x="31287467" y="9031859"/>
                  </a:lnTo>
                  <a:lnTo>
                    <a:pt x="15643861" y="0"/>
                  </a:lnTo>
                  <a:close/>
                </a:path>
              </a:pathLst>
            </a:custGeom>
            <a:blipFill>
              <a:blip r:embed="rId4"/>
              <a:stretch>
                <a:fillRect t="-3540" b="-3540"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200407" y="4333410"/>
            <a:ext cx="1058893" cy="909987"/>
            <a:chOff x="0" y="0"/>
            <a:chExt cx="1411858" cy="1213315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411858" cy="1213315"/>
              <a:chOff x="0" y="0"/>
              <a:chExt cx="812800" cy="698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24A59"/>
              </a:solidFill>
              <a:ln w="57150" cap="sq">
                <a:solidFill>
                  <a:srgbClr val="FFA91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279464" y="236166"/>
              <a:ext cx="852931" cy="740983"/>
            </a:xfrm>
            <a:custGeom>
              <a:avLst/>
              <a:gdLst/>
              <a:ahLst/>
              <a:cxnLst/>
              <a:rect l="l" t="t" r="r" b="b"/>
              <a:pathLst>
                <a:path w="852931" h="740983">
                  <a:moveTo>
                    <a:pt x="0" y="0"/>
                  </a:moveTo>
                  <a:lnTo>
                    <a:pt x="852930" y="0"/>
                  </a:lnTo>
                  <a:lnTo>
                    <a:pt x="852930" y="740983"/>
                  </a:lnTo>
                  <a:lnTo>
                    <a:pt x="0" y="74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200407" y="5926766"/>
            <a:ext cx="1058893" cy="909987"/>
            <a:chOff x="0" y="0"/>
            <a:chExt cx="1411858" cy="1213315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411858" cy="1213315"/>
              <a:chOff x="0" y="0"/>
              <a:chExt cx="812800" cy="6985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6985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985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24A59"/>
              </a:solidFill>
              <a:ln w="57150" cap="sq">
                <a:solidFill>
                  <a:srgbClr val="FFA91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4300" y="-57150"/>
                <a:ext cx="584200" cy="7556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279464" y="236166"/>
              <a:ext cx="852931" cy="740983"/>
            </a:xfrm>
            <a:custGeom>
              <a:avLst/>
              <a:gdLst/>
              <a:ahLst/>
              <a:cxnLst/>
              <a:rect l="l" t="t" r="r" b="b"/>
              <a:pathLst>
                <a:path w="852931" h="740983">
                  <a:moveTo>
                    <a:pt x="0" y="0"/>
                  </a:moveTo>
                  <a:lnTo>
                    <a:pt x="852930" y="0"/>
                  </a:lnTo>
                  <a:lnTo>
                    <a:pt x="852930" y="740983"/>
                  </a:lnTo>
                  <a:lnTo>
                    <a:pt x="0" y="74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8848604" y="4740310"/>
            <a:ext cx="719730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67"/>
              </a:lnSpc>
            </a:pP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Ứng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dụng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Android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dành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khách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hàng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viên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nền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tảng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triển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khai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chính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Website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dành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viên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tập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trung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919186" y="6333666"/>
            <a:ext cx="7126721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067"/>
              </a:lnSpc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thể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trực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tuyến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thông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báo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đẩy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qua Firebase Cloud Messaging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664791" y="2252702"/>
            <a:ext cx="5594509" cy="65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084"/>
              </a:lnSpc>
            </a:pPr>
            <a:r>
              <a:rPr lang="en-US" sz="4499" b="1" spc="-134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Mục</a:t>
            </a:r>
            <a:r>
              <a:rPr lang="en-US" sz="4499" b="1" spc="-134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499" b="1" spc="-134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Tiêu</a:t>
            </a:r>
            <a:r>
              <a:rPr lang="en-US" sz="4499" b="1" spc="-134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&amp; Phạm Vi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44400" y="4313892"/>
            <a:ext cx="3701507" cy="312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2375"/>
              </a:lnSpc>
            </a:pPr>
            <a:r>
              <a:rPr lang="en-US" sz="2800" b="1" spc="-63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Nền</a:t>
            </a:r>
            <a:r>
              <a:rPr lang="en-US" sz="2800" b="1" spc="-63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63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Tảng</a:t>
            </a:r>
            <a:r>
              <a:rPr lang="en-US" sz="2800" b="1" spc="-63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63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Triển</a:t>
            </a:r>
            <a:r>
              <a:rPr lang="en-US" sz="2800" b="1" spc="-63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Khai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52893" y="5907247"/>
            <a:ext cx="4993014" cy="316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2375"/>
              </a:lnSpc>
            </a:pPr>
            <a:r>
              <a:rPr lang="en-US" sz="2800" b="1" spc="-63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Chức</a:t>
            </a:r>
            <a:r>
              <a:rPr lang="en-US" sz="2800" b="1" spc="-63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63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Năng</a:t>
            </a:r>
            <a:r>
              <a:rPr lang="en-US" sz="2800" b="1" spc="-63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63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Hệ</a:t>
            </a:r>
            <a:r>
              <a:rPr lang="en-US" sz="2800" b="1" spc="-63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63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Thống</a:t>
            </a:r>
            <a:endParaRPr lang="en-US" sz="2800" b="1" spc="-63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8995798">
            <a:off x="4899020" y="11022230"/>
            <a:ext cx="13531543" cy="3065584"/>
            <a:chOff x="0" y="0"/>
            <a:chExt cx="3083192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8995798">
            <a:off x="-355651" y="9121343"/>
            <a:ext cx="13531543" cy="3065584"/>
            <a:chOff x="0" y="0"/>
            <a:chExt cx="3083192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8998130">
            <a:off x="-5149813" y="-1738765"/>
            <a:ext cx="12822069" cy="6906116"/>
            <a:chOff x="0" y="0"/>
            <a:chExt cx="1296853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8998130">
            <a:off x="-5506703" y="-114237"/>
            <a:ext cx="14503583" cy="7811799"/>
            <a:chOff x="0" y="0"/>
            <a:chExt cx="1296853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 rot="-1813147">
            <a:off x="-280493" y="1312669"/>
            <a:ext cx="8743695" cy="7661663"/>
          </a:xfrm>
          <a:custGeom>
            <a:avLst/>
            <a:gdLst/>
            <a:ahLst/>
            <a:cxnLst/>
            <a:rect l="l" t="t" r="r" b="b"/>
            <a:pathLst>
              <a:path w="8743695" h="7661663">
                <a:moveTo>
                  <a:pt x="0" y="0"/>
                </a:moveTo>
                <a:lnTo>
                  <a:pt x="8743694" y="0"/>
                </a:lnTo>
                <a:lnTo>
                  <a:pt x="8743694" y="7661662"/>
                </a:lnTo>
                <a:lnTo>
                  <a:pt x="0" y="766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478181" y="939081"/>
            <a:ext cx="7226346" cy="8408839"/>
            <a:chOff x="0" y="0"/>
            <a:chExt cx="6985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01996" y="1229804"/>
            <a:ext cx="6778716" cy="7827392"/>
            <a:chOff x="0" y="0"/>
            <a:chExt cx="31287555" cy="361277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287467" cy="36127817"/>
            </a:xfrm>
            <a:custGeom>
              <a:avLst/>
              <a:gdLst/>
              <a:ahLst/>
              <a:cxnLst/>
              <a:rect l="l" t="t" r="r" b="b"/>
              <a:pathLst>
                <a:path w="31287467" h="36127817">
                  <a:moveTo>
                    <a:pt x="15643733" y="0"/>
                  </a:moveTo>
                  <a:lnTo>
                    <a:pt x="0" y="9031859"/>
                  </a:lnTo>
                  <a:lnTo>
                    <a:pt x="0" y="27095831"/>
                  </a:lnTo>
                  <a:lnTo>
                    <a:pt x="15643733" y="36127817"/>
                  </a:lnTo>
                  <a:lnTo>
                    <a:pt x="31287467" y="27095958"/>
                  </a:lnTo>
                  <a:lnTo>
                    <a:pt x="31287467" y="9031859"/>
                  </a:lnTo>
                  <a:lnTo>
                    <a:pt x="15643861" y="0"/>
                  </a:lnTo>
                  <a:close/>
                </a:path>
              </a:pathLst>
            </a:custGeom>
            <a:blipFill>
              <a:blip r:embed="rId4"/>
              <a:stretch>
                <a:fillRect t="-3540" b="-3540"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96451" y="6154604"/>
            <a:ext cx="4373728" cy="2849668"/>
            <a:chOff x="0" y="0"/>
            <a:chExt cx="1151928" cy="75053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51929" cy="750530"/>
            </a:xfrm>
            <a:custGeom>
              <a:avLst/>
              <a:gdLst/>
              <a:ahLst/>
              <a:cxnLst/>
              <a:rect l="l" t="t" r="r" b="b"/>
              <a:pathLst>
                <a:path w="1151929" h="750530">
                  <a:moveTo>
                    <a:pt x="0" y="0"/>
                  </a:moveTo>
                  <a:lnTo>
                    <a:pt x="1151929" y="0"/>
                  </a:lnTo>
                  <a:lnTo>
                    <a:pt x="1151929" y="750530"/>
                  </a:lnTo>
                  <a:lnTo>
                    <a:pt x="0" y="75053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51928" cy="807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848604" y="3791662"/>
            <a:ext cx="4415824" cy="2490788"/>
            <a:chOff x="0" y="0"/>
            <a:chExt cx="1163015" cy="65601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63015" cy="656010"/>
            </a:xfrm>
            <a:custGeom>
              <a:avLst/>
              <a:gdLst/>
              <a:ahLst/>
              <a:cxnLst/>
              <a:rect l="l" t="t" r="r" b="b"/>
              <a:pathLst>
                <a:path w="1163015" h="656010">
                  <a:moveTo>
                    <a:pt x="0" y="0"/>
                  </a:moveTo>
                  <a:lnTo>
                    <a:pt x="1163015" y="0"/>
                  </a:lnTo>
                  <a:lnTo>
                    <a:pt x="1163015" y="656010"/>
                  </a:lnTo>
                  <a:lnTo>
                    <a:pt x="0" y="65601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163015" cy="713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848604" y="6282450"/>
            <a:ext cx="4205348" cy="2681288"/>
            <a:chOff x="0" y="0"/>
            <a:chExt cx="1107581" cy="7061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7581" cy="706183"/>
            </a:xfrm>
            <a:custGeom>
              <a:avLst/>
              <a:gdLst/>
              <a:ahLst/>
              <a:cxnLst/>
              <a:rect l="l" t="t" r="r" b="b"/>
              <a:pathLst>
                <a:path w="1107581" h="706183">
                  <a:moveTo>
                    <a:pt x="0" y="0"/>
                  </a:moveTo>
                  <a:lnTo>
                    <a:pt x="1107581" y="0"/>
                  </a:lnTo>
                  <a:lnTo>
                    <a:pt x="1107581" y="706183"/>
                  </a:lnTo>
                  <a:lnTo>
                    <a:pt x="0" y="706183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107581" cy="763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053952" y="3791662"/>
            <a:ext cx="4205348" cy="2490788"/>
            <a:chOff x="0" y="0"/>
            <a:chExt cx="1107581" cy="6560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7581" cy="656010"/>
            </a:xfrm>
            <a:custGeom>
              <a:avLst/>
              <a:gdLst/>
              <a:ahLst/>
              <a:cxnLst/>
              <a:rect l="l" t="t" r="r" b="b"/>
              <a:pathLst>
                <a:path w="1107581" h="656010">
                  <a:moveTo>
                    <a:pt x="0" y="0"/>
                  </a:moveTo>
                  <a:lnTo>
                    <a:pt x="1107581" y="0"/>
                  </a:lnTo>
                  <a:lnTo>
                    <a:pt x="1107581" y="656010"/>
                  </a:lnTo>
                  <a:lnTo>
                    <a:pt x="0" y="65601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pPr algn="just"/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107581" cy="713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just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95224" y="3936890"/>
            <a:ext cx="604753" cy="703712"/>
            <a:chOff x="0" y="0"/>
            <a:chExt cx="6985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95224" y="6406520"/>
            <a:ext cx="604753" cy="703712"/>
            <a:chOff x="0" y="0"/>
            <a:chExt cx="6985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178637" y="3936890"/>
            <a:ext cx="604753" cy="703712"/>
            <a:chOff x="0" y="0"/>
            <a:chExt cx="6985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178637" y="6406520"/>
            <a:ext cx="604753" cy="703712"/>
            <a:chOff x="0" y="0"/>
            <a:chExt cx="6985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44" name="Freeform 44"/>
          <p:cNvSpPr/>
          <p:nvPr/>
        </p:nvSpPr>
        <p:spPr>
          <a:xfrm>
            <a:off x="9072438" y="4063584"/>
            <a:ext cx="450324" cy="450324"/>
          </a:xfrm>
          <a:custGeom>
            <a:avLst/>
            <a:gdLst/>
            <a:ahLst/>
            <a:cxnLst/>
            <a:rect l="l" t="t" r="r" b="b"/>
            <a:pathLst>
              <a:path w="450324" h="450324">
                <a:moveTo>
                  <a:pt x="0" y="0"/>
                </a:moveTo>
                <a:lnTo>
                  <a:pt x="450324" y="0"/>
                </a:lnTo>
                <a:lnTo>
                  <a:pt x="450324" y="450324"/>
                </a:lnTo>
                <a:lnTo>
                  <a:pt x="0" y="450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13255851" y="6533214"/>
            <a:ext cx="450324" cy="450324"/>
          </a:xfrm>
          <a:custGeom>
            <a:avLst/>
            <a:gdLst/>
            <a:ahLst/>
            <a:cxnLst/>
            <a:rect l="l" t="t" r="r" b="b"/>
            <a:pathLst>
              <a:path w="450324" h="450324">
                <a:moveTo>
                  <a:pt x="0" y="0"/>
                </a:moveTo>
                <a:lnTo>
                  <a:pt x="450324" y="0"/>
                </a:lnTo>
                <a:lnTo>
                  <a:pt x="450324" y="450324"/>
                </a:lnTo>
                <a:lnTo>
                  <a:pt x="0" y="450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6" name="Freeform 46"/>
          <p:cNvSpPr/>
          <p:nvPr/>
        </p:nvSpPr>
        <p:spPr>
          <a:xfrm>
            <a:off x="13264428" y="4063584"/>
            <a:ext cx="450324" cy="450324"/>
          </a:xfrm>
          <a:custGeom>
            <a:avLst/>
            <a:gdLst/>
            <a:ahLst/>
            <a:cxnLst/>
            <a:rect l="l" t="t" r="r" b="b"/>
            <a:pathLst>
              <a:path w="450324" h="450324">
                <a:moveTo>
                  <a:pt x="0" y="0"/>
                </a:moveTo>
                <a:lnTo>
                  <a:pt x="450324" y="0"/>
                </a:lnTo>
                <a:lnTo>
                  <a:pt x="450324" y="450324"/>
                </a:lnTo>
                <a:lnTo>
                  <a:pt x="0" y="450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7" name="Freeform 47"/>
          <p:cNvSpPr/>
          <p:nvPr/>
        </p:nvSpPr>
        <p:spPr>
          <a:xfrm>
            <a:off x="9072438" y="6533214"/>
            <a:ext cx="450324" cy="450324"/>
          </a:xfrm>
          <a:custGeom>
            <a:avLst/>
            <a:gdLst/>
            <a:ahLst/>
            <a:cxnLst/>
            <a:rect l="l" t="t" r="r" b="b"/>
            <a:pathLst>
              <a:path w="450324" h="450324">
                <a:moveTo>
                  <a:pt x="0" y="0"/>
                </a:moveTo>
                <a:lnTo>
                  <a:pt x="450324" y="0"/>
                </a:lnTo>
                <a:lnTo>
                  <a:pt x="450324" y="450324"/>
                </a:lnTo>
                <a:lnTo>
                  <a:pt x="0" y="4503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664666" y="2056109"/>
            <a:ext cx="6594634" cy="486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70"/>
              </a:lnSpc>
            </a:pPr>
            <a:r>
              <a:rPr lang="en-US" sz="3248" b="1" spc="-97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Đối</a:t>
            </a:r>
            <a:r>
              <a:rPr lang="en-US" sz="3248" b="1" spc="-97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3248" b="1" spc="-97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Tượng</a:t>
            </a:r>
            <a:r>
              <a:rPr lang="en-US" sz="3248" b="1" spc="-97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3248" b="1" spc="-97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Sử</a:t>
            </a:r>
            <a:r>
              <a:rPr lang="en-US" sz="3248" b="1" spc="-97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3248" b="1" spc="-97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Dụng</a:t>
            </a:r>
            <a:r>
              <a:rPr lang="en-US" sz="3248" b="1" spc="-97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&amp; </a:t>
            </a:r>
            <a:r>
              <a:rPr lang="en-US" sz="3248" b="1" spc="-97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Chức</a:t>
            </a:r>
            <a:r>
              <a:rPr lang="en-US" sz="3248" b="1" spc="-97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3248" b="1" spc="-97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Năng</a:t>
            </a:r>
            <a:endParaRPr lang="en-US" sz="3248" b="1" spc="-97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797187" y="4147124"/>
            <a:ext cx="4578859" cy="283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080"/>
              </a:lnSpc>
            </a:pPr>
            <a:r>
              <a:rPr lang="en-US" sz="2800" b="1" spc="-5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Khách</a:t>
            </a:r>
            <a:r>
              <a:rPr lang="en-US" sz="2800" b="1" spc="-5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5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hàng</a:t>
            </a:r>
            <a:endParaRPr lang="en-US" sz="2800" b="1" spc="-55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797186" y="6616754"/>
            <a:ext cx="4841619" cy="252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941"/>
              </a:lnSpc>
            </a:pPr>
            <a:r>
              <a:rPr lang="en-US" sz="2400" b="1" spc="-5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Quản </a:t>
            </a:r>
            <a:r>
              <a:rPr lang="en-US" sz="2400" b="1" spc="-5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trị</a:t>
            </a:r>
            <a:endParaRPr lang="en-US" sz="2400" b="1" spc="-51" dirty="0">
              <a:solidFill>
                <a:srgbClr val="FFFFFF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3983413" y="4147124"/>
            <a:ext cx="3600675" cy="283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080"/>
              </a:lnSpc>
            </a:pPr>
            <a:r>
              <a:rPr lang="en-US" sz="2800" b="1" spc="-55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Nhân</a:t>
            </a:r>
            <a:r>
              <a:rPr lang="en-US" sz="2800" b="1" spc="-55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55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viên</a:t>
            </a:r>
            <a:endParaRPr lang="en-US" sz="2800" b="1" spc="-55" dirty="0">
              <a:solidFill>
                <a:srgbClr val="FFFFFF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3961982" y="6616754"/>
            <a:ext cx="3385411" cy="283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080"/>
              </a:lnSpc>
            </a:pPr>
            <a:r>
              <a:rPr lang="en-US" sz="2800" b="1" spc="-5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Nền</a:t>
            </a:r>
            <a:r>
              <a:rPr lang="en-US" sz="2800" b="1" spc="-5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5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Tảng</a:t>
            </a:r>
            <a:r>
              <a:rPr lang="en-US" sz="2800" b="1" spc="-5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800" b="1" spc="-55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Triển</a:t>
            </a:r>
            <a:r>
              <a:rPr lang="en-US" sz="2800" b="1" spc="-55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Khai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995224" y="4686300"/>
            <a:ext cx="3890347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trực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tuyến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đối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tạo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hoặc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tham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Quản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sử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nhân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3211452" y="7244624"/>
            <a:ext cx="389034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Android (Flutter):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đa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vai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trò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nền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tảng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triển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khai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chính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Website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(React):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dành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viên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tập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trung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3178637" y="4737495"/>
            <a:ext cx="389034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/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Quản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dịch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vụ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doanh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thu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Quản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dõi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các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diễn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ra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tại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endParaRPr lang="en-US" sz="2000" dirty="0">
              <a:solidFill>
                <a:srgbClr val="FFFFFF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06104" y="7244624"/>
            <a:ext cx="389034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toàn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bộ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tài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khoản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phân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quyền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Xem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báo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cáo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kê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vận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hành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endParaRPr lang="en-US" sz="2000" dirty="0">
              <a:solidFill>
                <a:srgbClr val="FFFFFF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183894" y="-674598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3264897"/>
                </a:moveTo>
                <a:lnTo>
                  <a:pt x="0" y="3264897"/>
                </a:lnTo>
                <a:lnTo>
                  <a:pt x="0" y="0"/>
                </a:lnTo>
                <a:lnTo>
                  <a:pt x="2117840" y="0"/>
                </a:lnTo>
                <a:lnTo>
                  <a:pt x="2117840" y="326489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rot="-5400000" flipH="1">
            <a:off x="16351493" y="-712127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0"/>
                </a:moveTo>
                <a:lnTo>
                  <a:pt x="0" y="0"/>
                </a:lnTo>
                <a:lnTo>
                  <a:pt x="0" y="3264898"/>
                </a:lnTo>
                <a:lnTo>
                  <a:pt x="2117840" y="3264898"/>
                </a:lnTo>
                <a:lnTo>
                  <a:pt x="21178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38494" y="9963150"/>
            <a:ext cx="16477376" cy="783580"/>
            <a:chOff x="0" y="0"/>
            <a:chExt cx="4339720" cy="206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9720" cy="206375"/>
            </a:xfrm>
            <a:custGeom>
              <a:avLst/>
              <a:gdLst/>
              <a:ahLst/>
              <a:cxnLst/>
              <a:rect l="l" t="t" r="r" b="b"/>
              <a:pathLst>
                <a:path w="4339720" h="206375">
                  <a:moveTo>
                    <a:pt x="203200" y="0"/>
                  </a:moveTo>
                  <a:lnTo>
                    <a:pt x="4339720" y="0"/>
                  </a:lnTo>
                  <a:lnTo>
                    <a:pt x="4136520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57150"/>
              <a:ext cx="4136520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4868" y="9963150"/>
            <a:ext cx="7295490" cy="783580"/>
            <a:chOff x="0" y="0"/>
            <a:chExt cx="1921446" cy="206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1446" cy="206375"/>
            </a:xfrm>
            <a:custGeom>
              <a:avLst/>
              <a:gdLst/>
              <a:ahLst/>
              <a:cxnLst/>
              <a:rect l="l" t="t" r="r" b="b"/>
              <a:pathLst>
                <a:path w="1921446" h="206375">
                  <a:moveTo>
                    <a:pt x="203200" y="0"/>
                  </a:moveTo>
                  <a:lnTo>
                    <a:pt x="1921446" y="0"/>
                  </a:lnTo>
                  <a:lnTo>
                    <a:pt x="1718246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1718246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4168374"/>
            <a:ext cx="3030795" cy="4178810"/>
            <a:chOff x="0" y="0"/>
            <a:chExt cx="901268" cy="12426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1268" cy="1242653"/>
            </a:xfrm>
            <a:custGeom>
              <a:avLst/>
              <a:gdLst/>
              <a:ahLst/>
              <a:cxnLst/>
              <a:rect l="l" t="t" r="r" b="b"/>
              <a:pathLst>
                <a:path w="901268" h="1242653">
                  <a:moveTo>
                    <a:pt x="0" y="0"/>
                  </a:moveTo>
                  <a:lnTo>
                    <a:pt x="901268" y="0"/>
                  </a:lnTo>
                  <a:lnTo>
                    <a:pt x="901268" y="1242653"/>
                  </a:lnTo>
                  <a:lnTo>
                    <a:pt x="0" y="1242653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901268" cy="1299803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2410" y="3410674"/>
            <a:ext cx="1763375" cy="1515401"/>
            <a:chOff x="0" y="0"/>
            <a:chExt cx="812800" cy="698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A91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204865" y="4168374"/>
            <a:ext cx="3030795" cy="4178810"/>
            <a:chOff x="0" y="0"/>
            <a:chExt cx="901268" cy="12426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1268" cy="1242653"/>
            </a:xfrm>
            <a:custGeom>
              <a:avLst/>
              <a:gdLst/>
              <a:ahLst/>
              <a:cxnLst/>
              <a:rect l="l" t="t" r="r" b="b"/>
              <a:pathLst>
                <a:path w="901268" h="1242653">
                  <a:moveTo>
                    <a:pt x="0" y="0"/>
                  </a:moveTo>
                  <a:lnTo>
                    <a:pt x="901268" y="0"/>
                  </a:lnTo>
                  <a:lnTo>
                    <a:pt x="901268" y="1242653"/>
                  </a:lnTo>
                  <a:lnTo>
                    <a:pt x="0" y="1242653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901268" cy="1299803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862215" y="3410674"/>
            <a:ext cx="1763375" cy="1515401"/>
            <a:chOff x="0" y="0"/>
            <a:chExt cx="8128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A91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928553" y="4168374"/>
            <a:ext cx="3030795" cy="4178810"/>
            <a:chOff x="0" y="0"/>
            <a:chExt cx="901268" cy="124265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1268" cy="1242653"/>
            </a:xfrm>
            <a:custGeom>
              <a:avLst/>
              <a:gdLst/>
              <a:ahLst/>
              <a:cxnLst/>
              <a:rect l="l" t="t" r="r" b="b"/>
              <a:pathLst>
                <a:path w="901268" h="1242653">
                  <a:moveTo>
                    <a:pt x="0" y="0"/>
                  </a:moveTo>
                  <a:lnTo>
                    <a:pt x="901268" y="0"/>
                  </a:lnTo>
                  <a:lnTo>
                    <a:pt x="901268" y="1242653"/>
                  </a:lnTo>
                  <a:lnTo>
                    <a:pt x="0" y="1242653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901268" cy="1299803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562264" y="3410674"/>
            <a:ext cx="1763375" cy="1515401"/>
            <a:chOff x="0" y="0"/>
            <a:chExt cx="812800" cy="698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A91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8602" y="4168374"/>
            <a:ext cx="3030795" cy="4178810"/>
            <a:chOff x="0" y="0"/>
            <a:chExt cx="901268" cy="124265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01268" cy="1242653"/>
            </a:xfrm>
            <a:custGeom>
              <a:avLst/>
              <a:gdLst/>
              <a:ahLst/>
              <a:cxnLst/>
              <a:rect l="l" t="t" r="r" b="b"/>
              <a:pathLst>
                <a:path w="901268" h="1242653">
                  <a:moveTo>
                    <a:pt x="0" y="0"/>
                  </a:moveTo>
                  <a:lnTo>
                    <a:pt x="901268" y="0"/>
                  </a:lnTo>
                  <a:lnTo>
                    <a:pt x="901268" y="1242653"/>
                  </a:lnTo>
                  <a:lnTo>
                    <a:pt x="0" y="1242653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901268" cy="1299803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62312" y="3410674"/>
            <a:ext cx="1763375" cy="1515401"/>
            <a:chOff x="0" y="0"/>
            <a:chExt cx="812800" cy="698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A91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31110" y="4171463"/>
            <a:ext cx="3030795" cy="4178810"/>
            <a:chOff x="0" y="0"/>
            <a:chExt cx="901268" cy="124265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01268" cy="1242653"/>
            </a:xfrm>
            <a:custGeom>
              <a:avLst/>
              <a:gdLst/>
              <a:ahLst/>
              <a:cxnLst/>
              <a:rect l="l" t="t" r="r" b="b"/>
              <a:pathLst>
                <a:path w="901268" h="1242653">
                  <a:moveTo>
                    <a:pt x="0" y="0"/>
                  </a:moveTo>
                  <a:lnTo>
                    <a:pt x="901268" y="0"/>
                  </a:lnTo>
                  <a:lnTo>
                    <a:pt x="901268" y="1242653"/>
                  </a:lnTo>
                  <a:lnTo>
                    <a:pt x="0" y="1242653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901268" cy="1299803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962361" y="3410674"/>
            <a:ext cx="1763375" cy="1515401"/>
            <a:chOff x="0" y="0"/>
            <a:chExt cx="812800" cy="6985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A916"/>
            </a:solidFill>
            <a:ln w="6667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44992" tIns="44992" rIns="44992" bIns="44992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40" name="Freeform 40"/>
          <p:cNvSpPr/>
          <p:nvPr/>
        </p:nvSpPr>
        <p:spPr>
          <a:xfrm>
            <a:off x="2008830" y="3829355"/>
            <a:ext cx="1112894" cy="696950"/>
          </a:xfrm>
          <a:custGeom>
            <a:avLst/>
            <a:gdLst/>
            <a:ahLst/>
            <a:cxnLst/>
            <a:rect l="l" t="t" r="r" b="b"/>
            <a:pathLst>
              <a:path w="1112894" h="696950">
                <a:moveTo>
                  <a:pt x="0" y="0"/>
                </a:moveTo>
                <a:lnTo>
                  <a:pt x="1112893" y="0"/>
                </a:lnTo>
                <a:lnTo>
                  <a:pt x="1112893" y="696950"/>
                </a:lnTo>
                <a:lnTo>
                  <a:pt x="0" y="69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1" name="Freeform 41"/>
          <p:cNvSpPr/>
          <p:nvPr/>
        </p:nvSpPr>
        <p:spPr>
          <a:xfrm>
            <a:off x="5445194" y="3780376"/>
            <a:ext cx="795169" cy="735438"/>
          </a:xfrm>
          <a:custGeom>
            <a:avLst/>
            <a:gdLst/>
            <a:ahLst/>
            <a:cxnLst/>
            <a:rect l="l" t="t" r="r" b="b"/>
            <a:pathLst>
              <a:path w="795169" h="735438">
                <a:moveTo>
                  <a:pt x="0" y="0"/>
                </a:moveTo>
                <a:lnTo>
                  <a:pt x="795169" y="0"/>
                </a:lnTo>
                <a:lnTo>
                  <a:pt x="795169" y="735437"/>
                </a:lnTo>
                <a:lnTo>
                  <a:pt x="0" y="7354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8392785" y="3813437"/>
            <a:ext cx="1499861" cy="838047"/>
          </a:xfrm>
          <a:custGeom>
            <a:avLst/>
            <a:gdLst/>
            <a:ahLst/>
            <a:cxnLst/>
            <a:rect l="l" t="t" r="r" b="b"/>
            <a:pathLst>
              <a:path w="1499861" h="838047">
                <a:moveTo>
                  <a:pt x="0" y="0"/>
                </a:moveTo>
                <a:lnTo>
                  <a:pt x="1499860" y="0"/>
                </a:lnTo>
                <a:lnTo>
                  <a:pt x="1499860" y="838047"/>
                </a:lnTo>
                <a:lnTo>
                  <a:pt x="0" y="8380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12028152" y="3519641"/>
            <a:ext cx="780675" cy="1378676"/>
          </a:xfrm>
          <a:custGeom>
            <a:avLst/>
            <a:gdLst/>
            <a:ahLst/>
            <a:cxnLst/>
            <a:rect l="l" t="t" r="r" b="b"/>
            <a:pathLst>
              <a:path w="780675" h="1378676">
                <a:moveTo>
                  <a:pt x="0" y="0"/>
                </a:moveTo>
                <a:lnTo>
                  <a:pt x="780675" y="0"/>
                </a:lnTo>
                <a:lnTo>
                  <a:pt x="780675" y="1378676"/>
                </a:lnTo>
                <a:lnTo>
                  <a:pt x="0" y="13786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15320364" y="3674921"/>
            <a:ext cx="912899" cy="985208"/>
          </a:xfrm>
          <a:custGeom>
            <a:avLst/>
            <a:gdLst/>
            <a:ahLst/>
            <a:cxnLst/>
            <a:rect l="l" t="t" r="r" b="b"/>
            <a:pathLst>
              <a:path w="912899" h="985208">
                <a:moveTo>
                  <a:pt x="0" y="0"/>
                </a:moveTo>
                <a:lnTo>
                  <a:pt x="912899" y="0"/>
                </a:lnTo>
                <a:lnTo>
                  <a:pt x="912899" y="985208"/>
                </a:lnTo>
                <a:lnTo>
                  <a:pt x="0" y="9852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012912" y="1009650"/>
            <a:ext cx="10262177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4"/>
              </a:lnSpc>
            </a:pPr>
            <a:r>
              <a:rPr lang="en-US" sz="45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Các </a:t>
            </a:r>
            <a:r>
              <a:rPr lang="en-US" sz="45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Chức</a:t>
            </a:r>
            <a:r>
              <a:rPr lang="en-US" sz="45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5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Năng</a:t>
            </a:r>
            <a:r>
              <a:rPr lang="en-US" sz="45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5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Nổi</a:t>
            </a:r>
            <a:r>
              <a:rPr lang="en-US" sz="45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5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Bật</a:t>
            </a:r>
            <a:endParaRPr lang="en-US" sz="4500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216395" y="5161462"/>
            <a:ext cx="2655406" cy="678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2"/>
              </a:lnSpc>
            </a:pP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Quản Lý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Sân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</a:p>
          <a:p>
            <a:pPr marL="0" lvl="0" indent="0" algn="ctr">
              <a:lnSpc>
                <a:spcPts val="2622"/>
              </a:lnSpc>
            </a:pP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Khung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Giờ</a:t>
            </a:r>
            <a:endParaRPr lang="en-US" sz="2185" b="1" dirty="0">
              <a:solidFill>
                <a:srgbClr val="FFFFFF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331110" y="5161462"/>
            <a:ext cx="3025879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2"/>
              </a:lnSpc>
            </a:pP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Đặt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Sân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</a:p>
          <a:p>
            <a:pPr marL="0" lvl="0" indent="0" algn="ctr">
              <a:lnSpc>
                <a:spcPts val="2622"/>
              </a:lnSpc>
            </a:pP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Lịch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Cố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Định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26147" y="5219549"/>
            <a:ext cx="303570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0"/>
              </a:lnSpc>
            </a:pPr>
            <a:r>
              <a:rPr lang="en-US" sz="2200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Tìm</a:t>
            </a: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Kiếm </a:t>
            </a:r>
            <a:r>
              <a:rPr lang="en-US" sz="2200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Đối</a:t>
            </a: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Thủ</a:t>
            </a:r>
            <a:endParaRPr lang="en-US" sz="2200" b="1" dirty="0">
              <a:solidFill>
                <a:srgbClr val="FFFFFF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926095" y="5161462"/>
            <a:ext cx="3030795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2"/>
              </a:lnSpc>
            </a:pP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Thanh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Toán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Tích</a:t>
            </a:r>
            <a:r>
              <a:rPr lang="en-US" sz="2185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185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Hợp</a:t>
            </a:r>
            <a:endParaRPr lang="en-US" sz="2185" b="1" dirty="0">
              <a:solidFill>
                <a:srgbClr val="FFFFFF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4416199" y="5161462"/>
            <a:ext cx="2655406" cy="64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2"/>
              </a:lnSpc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Thông Báo </a:t>
            </a:r>
          </a:p>
          <a:p>
            <a:pPr marL="0" lvl="0" indent="0" algn="ctr">
              <a:lnSpc>
                <a:spcPts val="2622"/>
              </a:lnSpc>
            </a:pP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Báo Cáo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Thống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Kê</a:t>
            </a:r>
            <a:endParaRPr lang="en-US" sz="2000" b="1" dirty="0">
              <a:solidFill>
                <a:srgbClr val="FFFFFF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248381" y="6029734"/>
            <a:ext cx="2655406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indent="0" algn="just"/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khung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giờ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linh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hoạt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Cấu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hình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cố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định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các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nhóm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thường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xuyên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Dễ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dàng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dõi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trạng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thái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từng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thời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thực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541814" y="6029734"/>
            <a:ext cx="2655406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trực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tuyến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tiện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lợi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trên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Android.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Kiểm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tra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trùng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tự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động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tránh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xung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đột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đơn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nhanh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chóng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chính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7841765" y="6005308"/>
            <a:ext cx="265540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Tạo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đối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phù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môn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thể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thời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địa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điểm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Gửi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yêu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cầu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tham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dễ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dàng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1093239" y="6005308"/>
            <a:ext cx="265540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Hỗ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trợ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tiền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mặt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tích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ZaloPay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Sandbox.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Cập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trạng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thái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đơn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tự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động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sau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thành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công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4416199" y="6005308"/>
            <a:ext cx="265540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Gửi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thông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báo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đẩy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qua FCM. Báo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kê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doanh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thu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hoạt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động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viên</a:t>
            </a:r>
            <a:endParaRPr lang="en-US" dirty="0">
              <a:solidFill>
                <a:srgbClr val="FFFFFF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183894" y="-674598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3264897"/>
                </a:moveTo>
                <a:lnTo>
                  <a:pt x="0" y="3264897"/>
                </a:lnTo>
                <a:lnTo>
                  <a:pt x="0" y="0"/>
                </a:lnTo>
                <a:lnTo>
                  <a:pt x="2117840" y="0"/>
                </a:lnTo>
                <a:lnTo>
                  <a:pt x="2117840" y="326489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rot="-5400000" flipH="1">
            <a:off x="16351493" y="-712127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0"/>
                </a:moveTo>
                <a:lnTo>
                  <a:pt x="0" y="0"/>
                </a:lnTo>
                <a:lnTo>
                  <a:pt x="0" y="3264898"/>
                </a:lnTo>
                <a:lnTo>
                  <a:pt x="2117840" y="3264898"/>
                </a:lnTo>
                <a:lnTo>
                  <a:pt x="21178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38494" y="9963150"/>
            <a:ext cx="16477376" cy="783580"/>
            <a:chOff x="0" y="0"/>
            <a:chExt cx="4339720" cy="206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9720" cy="206375"/>
            </a:xfrm>
            <a:custGeom>
              <a:avLst/>
              <a:gdLst/>
              <a:ahLst/>
              <a:cxnLst/>
              <a:rect l="l" t="t" r="r" b="b"/>
              <a:pathLst>
                <a:path w="4339720" h="206375">
                  <a:moveTo>
                    <a:pt x="203200" y="0"/>
                  </a:moveTo>
                  <a:lnTo>
                    <a:pt x="4339720" y="0"/>
                  </a:lnTo>
                  <a:lnTo>
                    <a:pt x="4136520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57150"/>
              <a:ext cx="4136520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4868" y="9963150"/>
            <a:ext cx="7295490" cy="783580"/>
            <a:chOff x="0" y="0"/>
            <a:chExt cx="1921446" cy="206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1446" cy="206375"/>
            </a:xfrm>
            <a:custGeom>
              <a:avLst/>
              <a:gdLst/>
              <a:ahLst/>
              <a:cxnLst/>
              <a:rect l="l" t="t" r="r" b="b"/>
              <a:pathLst>
                <a:path w="1921446" h="206375">
                  <a:moveTo>
                    <a:pt x="203200" y="0"/>
                  </a:moveTo>
                  <a:lnTo>
                    <a:pt x="1921446" y="0"/>
                  </a:lnTo>
                  <a:lnTo>
                    <a:pt x="1718246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1718246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652563" y="3417094"/>
            <a:ext cx="1309167" cy="1125065"/>
            <a:chOff x="0" y="0"/>
            <a:chExt cx="812800" cy="698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652563" y="4987367"/>
            <a:ext cx="1309167" cy="1125065"/>
            <a:chOff x="0" y="0"/>
            <a:chExt cx="812800" cy="698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52563" y="6561266"/>
            <a:ext cx="1309167" cy="1125065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52563" y="8133235"/>
            <a:ext cx="1309167" cy="1125065"/>
            <a:chOff x="0" y="0"/>
            <a:chExt cx="8128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75018" y="3007277"/>
            <a:ext cx="8327902" cy="5551935"/>
          </a:xfrm>
          <a:custGeom>
            <a:avLst/>
            <a:gdLst/>
            <a:ahLst/>
            <a:cxnLst/>
            <a:rect l="l" t="t" r="r" b="b"/>
            <a:pathLst>
              <a:path w="8327902" h="5551935">
                <a:moveTo>
                  <a:pt x="0" y="0"/>
                </a:moveTo>
                <a:lnTo>
                  <a:pt x="8327902" y="0"/>
                </a:lnTo>
                <a:lnTo>
                  <a:pt x="8327902" y="5551934"/>
                </a:lnTo>
                <a:lnTo>
                  <a:pt x="0" y="55519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562165" y="1009650"/>
            <a:ext cx="916366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1"/>
              </a:lnSpc>
            </a:pP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Kiến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Trúc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Hệ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Thống</a:t>
            </a:r>
            <a:endParaRPr lang="en-US" sz="4496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229726" y="3445095"/>
            <a:ext cx="5002227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Flutter Mobile App (Android)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66004" y="3555538"/>
            <a:ext cx="682286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2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79687" y="5125811"/>
            <a:ext cx="1054919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2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31085" y="6694519"/>
            <a:ext cx="95212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2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31085" y="8266488"/>
            <a:ext cx="952124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2"/>
              </a:lnSpc>
              <a:spcBef>
                <a:spcPct val="0"/>
              </a:spcBef>
            </a:pPr>
            <a:r>
              <a:rPr lang="en-US" sz="2787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29726" y="5047357"/>
            <a:ext cx="4288436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React Web Admin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Backend API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29726" y="6589267"/>
            <a:ext cx="3363266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Node.js / Express Backend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29726" y="8161237"/>
            <a:ext cx="3363266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22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Dịch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vụ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lưu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trữ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dữ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liệu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229726" y="3848100"/>
            <a:ext cx="7029574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Ứng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dụng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Android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xây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dựng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bằng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Flutter. Giao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tiếp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với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Backend qua RESTful API.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thông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báo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đẩy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qua FCM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29726" y="5450362"/>
            <a:ext cx="729627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Website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React.js. Backend Node.js/Express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xử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logic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nghiệp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vụ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thực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JWT,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định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tuyến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API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kết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nối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dịch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vụ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bên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ngoài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29726" y="6992272"/>
            <a:ext cx="7029574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Backend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kết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nối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MongoDB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lưu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trữ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dữ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liệu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Firebase Authentication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thực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tài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khoản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Firebase Cloud Messaging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gửi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thông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báo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real-time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229726" y="8552732"/>
            <a:ext cx="7029574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Tích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cổng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ZaloPay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Sandbox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phép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trực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tuyến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Luồng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: Mobile/Web → API → Backend → MongoDB/Firebase/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ZaloPay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→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phản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hồi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kết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về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183894" y="-674598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3264897"/>
                </a:moveTo>
                <a:lnTo>
                  <a:pt x="0" y="3264897"/>
                </a:lnTo>
                <a:lnTo>
                  <a:pt x="0" y="0"/>
                </a:lnTo>
                <a:lnTo>
                  <a:pt x="2117840" y="0"/>
                </a:lnTo>
                <a:lnTo>
                  <a:pt x="2117840" y="326489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rot="-5400000" flipH="1">
            <a:off x="16351493" y="-712127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0"/>
                </a:moveTo>
                <a:lnTo>
                  <a:pt x="0" y="0"/>
                </a:lnTo>
                <a:lnTo>
                  <a:pt x="0" y="3264898"/>
                </a:lnTo>
                <a:lnTo>
                  <a:pt x="2117840" y="3264898"/>
                </a:lnTo>
                <a:lnTo>
                  <a:pt x="21178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38494" y="9963150"/>
            <a:ext cx="16477376" cy="783580"/>
            <a:chOff x="0" y="0"/>
            <a:chExt cx="4339720" cy="206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9720" cy="206375"/>
            </a:xfrm>
            <a:custGeom>
              <a:avLst/>
              <a:gdLst/>
              <a:ahLst/>
              <a:cxnLst/>
              <a:rect l="l" t="t" r="r" b="b"/>
              <a:pathLst>
                <a:path w="4339720" h="206375">
                  <a:moveTo>
                    <a:pt x="203200" y="0"/>
                  </a:moveTo>
                  <a:lnTo>
                    <a:pt x="4339720" y="0"/>
                  </a:lnTo>
                  <a:lnTo>
                    <a:pt x="4136520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57150"/>
              <a:ext cx="4136520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4868" y="9963150"/>
            <a:ext cx="7295490" cy="783580"/>
            <a:chOff x="0" y="0"/>
            <a:chExt cx="1921446" cy="206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1446" cy="206375"/>
            </a:xfrm>
            <a:custGeom>
              <a:avLst/>
              <a:gdLst/>
              <a:ahLst/>
              <a:cxnLst/>
              <a:rect l="l" t="t" r="r" b="b"/>
              <a:pathLst>
                <a:path w="1921446" h="206375">
                  <a:moveTo>
                    <a:pt x="203200" y="0"/>
                  </a:moveTo>
                  <a:lnTo>
                    <a:pt x="1921446" y="0"/>
                  </a:lnTo>
                  <a:lnTo>
                    <a:pt x="1718246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1718246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3146299"/>
            <a:ext cx="6012681" cy="6112001"/>
          </a:xfrm>
          <a:custGeom>
            <a:avLst/>
            <a:gdLst/>
            <a:ahLst/>
            <a:cxnLst/>
            <a:rect l="l" t="t" r="r" b="b"/>
            <a:pathLst>
              <a:path w="6012681" h="6112001">
                <a:moveTo>
                  <a:pt x="0" y="0"/>
                </a:moveTo>
                <a:lnTo>
                  <a:pt x="6012681" y="0"/>
                </a:lnTo>
                <a:lnTo>
                  <a:pt x="6012681" y="6112001"/>
                </a:lnTo>
                <a:lnTo>
                  <a:pt x="0" y="6112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3069425" y="5286386"/>
            <a:ext cx="1995647" cy="1390987"/>
          </a:xfrm>
          <a:custGeom>
            <a:avLst/>
            <a:gdLst/>
            <a:ahLst/>
            <a:cxnLst/>
            <a:rect l="l" t="t" r="r" b="b"/>
            <a:pathLst>
              <a:path w="1995647" h="1390987">
                <a:moveTo>
                  <a:pt x="0" y="0"/>
                </a:moveTo>
                <a:lnTo>
                  <a:pt x="1995647" y="0"/>
                </a:lnTo>
                <a:lnTo>
                  <a:pt x="1995647" y="1390987"/>
                </a:lnTo>
                <a:lnTo>
                  <a:pt x="0" y="1390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078523" y="3701306"/>
            <a:ext cx="1512484" cy="1299791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078523" y="5515447"/>
            <a:ext cx="1512484" cy="1299791"/>
            <a:chOff x="0" y="0"/>
            <a:chExt cx="812800" cy="698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78523" y="7333778"/>
            <a:ext cx="1512484" cy="1299791"/>
            <a:chOff x="0" y="0"/>
            <a:chExt cx="812800" cy="698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5279804" y="4072888"/>
            <a:ext cx="736389" cy="741603"/>
          </a:xfrm>
          <a:custGeom>
            <a:avLst/>
            <a:gdLst/>
            <a:ahLst/>
            <a:cxnLst/>
            <a:rect l="l" t="t" r="r" b="b"/>
            <a:pathLst>
              <a:path w="736389" h="741603">
                <a:moveTo>
                  <a:pt x="0" y="0"/>
                </a:moveTo>
                <a:lnTo>
                  <a:pt x="736389" y="0"/>
                </a:lnTo>
                <a:lnTo>
                  <a:pt x="736389" y="741603"/>
                </a:lnTo>
                <a:lnTo>
                  <a:pt x="0" y="7416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6119242" y="5629811"/>
            <a:ext cx="577141" cy="1146668"/>
          </a:xfrm>
          <a:custGeom>
            <a:avLst/>
            <a:gdLst/>
            <a:ahLst/>
            <a:cxnLst/>
            <a:rect l="l" t="t" r="r" b="b"/>
            <a:pathLst>
              <a:path w="577141" h="1146668">
                <a:moveTo>
                  <a:pt x="0" y="0"/>
                </a:moveTo>
                <a:lnTo>
                  <a:pt x="577141" y="0"/>
                </a:lnTo>
                <a:lnTo>
                  <a:pt x="577141" y="1146668"/>
                </a:lnTo>
                <a:lnTo>
                  <a:pt x="0" y="114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152171" y="7448743"/>
            <a:ext cx="769719" cy="795520"/>
          </a:xfrm>
          <a:custGeom>
            <a:avLst/>
            <a:gdLst/>
            <a:ahLst/>
            <a:cxnLst/>
            <a:rect l="l" t="t" r="r" b="b"/>
            <a:pathLst>
              <a:path w="769719" h="795520">
                <a:moveTo>
                  <a:pt x="0" y="0"/>
                </a:moveTo>
                <a:lnTo>
                  <a:pt x="769720" y="0"/>
                </a:lnTo>
                <a:lnTo>
                  <a:pt x="769720" y="795519"/>
                </a:lnTo>
                <a:lnTo>
                  <a:pt x="0" y="7955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36114" y="1009650"/>
            <a:ext cx="7615772" cy="134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1"/>
              </a:lnSpc>
            </a:pP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Quy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Trình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Đặt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Sân</a:t>
            </a:r>
            <a:endParaRPr lang="en-US" sz="4496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  <a:p>
            <a:pPr marL="0" lvl="0" indent="0" algn="ctr">
              <a:lnSpc>
                <a:spcPts val="5171"/>
              </a:lnSpc>
            </a:pP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Thanh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Toán</a:t>
            </a:r>
            <a:endParaRPr lang="en-US" sz="4496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900625" y="3722003"/>
            <a:ext cx="4954443" cy="40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8"/>
              </a:lnSpc>
              <a:spcBef>
                <a:spcPct val="0"/>
              </a:spcBef>
            </a:pP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Chọn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Sân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Khung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Giờ</a:t>
            </a:r>
            <a:endParaRPr lang="en-US" sz="2492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440642" y="3836465"/>
            <a:ext cx="788247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61"/>
              </a:lnSpc>
              <a:spcBef>
                <a:spcPct val="0"/>
              </a:spcBef>
            </a:pPr>
            <a:r>
              <a:rPr lang="en-US" sz="4186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25390" y="5650606"/>
            <a:ext cx="1218752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61"/>
              </a:lnSpc>
              <a:spcBef>
                <a:spcPct val="0"/>
              </a:spcBef>
            </a:pPr>
            <a:r>
              <a:rPr lang="en-US" sz="4186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4770" y="7462939"/>
            <a:ext cx="1099992" cy="689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61"/>
              </a:lnSpc>
              <a:spcBef>
                <a:spcPct val="0"/>
              </a:spcBef>
            </a:pPr>
            <a:r>
              <a:rPr lang="en-US" sz="4186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900625" y="5573101"/>
            <a:ext cx="4954443" cy="40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8"/>
              </a:lnSpc>
              <a:spcBef>
                <a:spcPct val="0"/>
              </a:spcBef>
            </a:pP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Kiểm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Tra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Đặt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Sân</a:t>
            </a:r>
            <a:endParaRPr lang="en-US" sz="2492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900625" y="7354474"/>
            <a:ext cx="3885591" cy="409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8"/>
              </a:lnSpc>
              <a:spcBef>
                <a:spcPct val="0"/>
              </a:spcBef>
            </a:pP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Thanh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Toán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Xác</a:t>
            </a:r>
            <a:r>
              <a:rPr lang="en-US" sz="249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9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Nhận</a:t>
            </a:r>
            <a:endParaRPr lang="en-US" sz="2492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900625" y="4312431"/>
            <a:ext cx="5853975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60"/>
              </a:lnSpc>
            </a:pP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chọn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ngày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khung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giờ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mong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muốn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kiểm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tra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trạng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thái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phát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hiện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trùng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tự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động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910150" y="6162850"/>
            <a:ext cx="584445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60"/>
              </a:lnSpc>
            </a:pP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tạo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đơn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thành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công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chọn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hình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thức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: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tiền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mặt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hoặc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ZaloPay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Sandbox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10150" y="7972668"/>
            <a:ext cx="576825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60"/>
              </a:lnSpc>
            </a:pP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cập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trạng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thái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đơn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viên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dõi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xử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đơn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trên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website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B34623-83C0-81B2-390C-01A88CD5A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02"/>
          <a:stretch>
            <a:fillRect/>
          </a:stretch>
        </p:blipFill>
        <p:spPr bwMode="auto">
          <a:xfrm rot="5400000">
            <a:off x="1399835" y="1269698"/>
            <a:ext cx="7122166" cy="961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183894" y="-674598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3264897"/>
                </a:moveTo>
                <a:lnTo>
                  <a:pt x="0" y="3264897"/>
                </a:lnTo>
                <a:lnTo>
                  <a:pt x="0" y="0"/>
                </a:lnTo>
                <a:lnTo>
                  <a:pt x="2117840" y="0"/>
                </a:lnTo>
                <a:lnTo>
                  <a:pt x="2117840" y="326489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rot="-5400000" flipH="1">
            <a:off x="16351493" y="-712127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0"/>
                </a:moveTo>
                <a:lnTo>
                  <a:pt x="0" y="0"/>
                </a:lnTo>
                <a:lnTo>
                  <a:pt x="0" y="3264898"/>
                </a:lnTo>
                <a:lnTo>
                  <a:pt x="2117840" y="3264898"/>
                </a:lnTo>
                <a:lnTo>
                  <a:pt x="21178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38494" y="9963150"/>
            <a:ext cx="16477376" cy="783580"/>
            <a:chOff x="0" y="0"/>
            <a:chExt cx="4339720" cy="206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9720" cy="206375"/>
            </a:xfrm>
            <a:custGeom>
              <a:avLst/>
              <a:gdLst/>
              <a:ahLst/>
              <a:cxnLst/>
              <a:rect l="l" t="t" r="r" b="b"/>
              <a:pathLst>
                <a:path w="4339720" h="206375">
                  <a:moveTo>
                    <a:pt x="203200" y="0"/>
                  </a:moveTo>
                  <a:lnTo>
                    <a:pt x="4339720" y="0"/>
                  </a:lnTo>
                  <a:lnTo>
                    <a:pt x="4136520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57150"/>
              <a:ext cx="4136520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4868" y="9963150"/>
            <a:ext cx="7295490" cy="783580"/>
            <a:chOff x="0" y="0"/>
            <a:chExt cx="1921446" cy="206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1446" cy="206375"/>
            </a:xfrm>
            <a:custGeom>
              <a:avLst/>
              <a:gdLst/>
              <a:ahLst/>
              <a:cxnLst/>
              <a:rect l="l" t="t" r="r" b="b"/>
              <a:pathLst>
                <a:path w="1921446" h="206375">
                  <a:moveTo>
                    <a:pt x="203200" y="0"/>
                  </a:moveTo>
                  <a:lnTo>
                    <a:pt x="1921446" y="0"/>
                  </a:lnTo>
                  <a:lnTo>
                    <a:pt x="1718246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1718246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3146299"/>
            <a:ext cx="6012681" cy="6112001"/>
          </a:xfrm>
          <a:custGeom>
            <a:avLst/>
            <a:gdLst/>
            <a:ahLst/>
            <a:cxnLst/>
            <a:rect l="l" t="t" r="r" b="b"/>
            <a:pathLst>
              <a:path w="6012681" h="6112001">
                <a:moveTo>
                  <a:pt x="0" y="0"/>
                </a:moveTo>
                <a:lnTo>
                  <a:pt x="6012681" y="0"/>
                </a:lnTo>
                <a:lnTo>
                  <a:pt x="6012681" y="6112001"/>
                </a:lnTo>
                <a:lnTo>
                  <a:pt x="0" y="6112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2634633" y="5464507"/>
            <a:ext cx="2867242" cy="1393289"/>
          </a:xfrm>
          <a:custGeom>
            <a:avLst/>
            <a:gdLst/>
            <a:ahLst/>
            <a:cxnLst/>
            <a:rect l="l" t="t" r="r" b="b"/>
            <a:pathLst>
              <a:path w="2867242" h="1393289">
                <a:moveTo>
                  <a:pt x="0" y="0"/>
                </a:moveTo>
                <a:lnTo>
                  <a:pt x="2867242" y="0"/>
                </a:lnTo>
                <a:lnTo>
                  <a:pt x="2867242" y="1393289"/>
                </a:lnTo>
                <a:lnTo>
                  <a:pt x="0" y="139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8859323" y="3701306"/>
            <a:ext cx="1512484" cy="1299791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59323" y="5515447"/>
            <a:ext cx="1512484" cy="1299791"/>
            <a:chOff x="0" y="0"/>
            <a:chExt cx="812800" cy="698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59323" y="7333778"/>
            <a:ext cx="1512484" cy="1299791"/>
            <a:chOff x="0" y="0"/>
            <a:chExt cx="812800" cy="698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21" name="Freeform 21"/>
          <p:cNvSpPr/>
          <p:nvPr/>
        </p:nvSpPr>
        <p:spPr>
          <a:xfrm>
            <a:off x="5185551" y="4095133"/>
            <a:ext cx="922523" cy="647695"/>
          </a:xfrm>
          <a:custGeom>
            <a:avLst/>
            <a:gdLst/>
            <a:ahLst/>
            <a:cxnLst/>
            <a:rect l="l" t="t" r="r" b="b"/>
            <a:pathLst>
              <a:path w="922523" h="647695">
                <a:moveTo>
                  <a:pt x="0" y="0"/>
                </a:moveTo>
                <a:lnTo>
                  <a:pt x="922522" y="0"/>
                </a:lnTo>
                <a:lnTo>
                  <a:pt x="922522" y="647694"/>
                </a:lnTo>
                <a:lnTo>
                  <a:pt x="0" y="6476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5904815" y="5816417"/>
            <a:ext cx="977976" cy="797533"/>
          </a:xfrm>
          <a:custGeom>
            <a:avLst/>
            <a:gdLst/>
            <a:ahLst/>
            <a:cxnLst/>
            <a:rect l="l" t="t" r="r" b="b"/>
            <a:pathLst>
              <a:path w="977976" h="797533">
                <a:moveTo>
                  <a:pt x="0" y="0"/>
                </a:moveTo>
                <a:lnTo>
                  <a:pt x="977976" y="0"/>
                </a:lnTo>
                <a:lnTo>
                  <a:pt x="977976" y="797533"/>
                </a:lnTo>
                <a:lnTo>
                  <a:pt x="0" y="797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184446" y="7552728"/>
            <a:ext cx="700118" cy="694251"/>
          </a:xfrm>
          <a:custGeom>
            <a:avLst/>
            <a:gdLst/>
            <a:ahLst/>
            <a:cxnLst/>
            <a:rect l="l" t="t" r="r" b="b"/>
            <a:pathLst>
              <a:path w="700118" h="694251">
                <a:moveTo>
                  <a:pt x="0" y="0"/>
                </a:moveTo>
                <a:lnTo>
                  <a:pt x="700117" y="0"/>
                </a:lnTo>
                <a:lnTo>
                  <a:pt x="700117" y="694251"/>
                </a:lnTo>
                <a:lnTo>
                  <a:pt x="0" y="6942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36114" y="1009650"/>
            <a:ext cx="7846486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171"/>
              </a:lnSpc>
            </a:pP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Quy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Trình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Tìm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Kiếm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Đối</a:t>
            </a:r>
            <a:r>
              <a:rPr lang="en-US" sz="449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49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Thủ</a:t>
            </a:r>
            <a:endParaRPr lang="en-US" sz="4496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681425" y="3722003"/>
            <a:ext cx="4954443" cy="43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Tạo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Trận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Đấu</a:t>
            </a:r>
            <a:endParaRPr lang="en-US" sz="2619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21442" y="3836465"/>
            <a:ext cx="788247" cy="72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2"/>
              </a:lnSpc>
              <a:spcBef>
                <a:spcPct val="0"/>
              </a:spcBef>
            </a:pPr>
            <a:r>
              <a:rPr lang="en-US" sz="4401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06190" y="5650606"/>
            <a:ext cx="1218752" cy="72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2"/>
              </a:lnSpc>
              <a:spcBef>
                <a:spcPct val="0"/>
              </a:spcBef>
            </a:pPr>
            <a:r>
              <a:rPr lang="en-US" sz="4401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65570" y="7462939"/>
            <a:ext cx="1099992" cy="72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62"/>
              </a:lnSpc>
              <a:spcBef>
                <a:spcPct val="0"/>
              </a:spcBef>
            </a:pPr>
            <a:r>
              <a:rPr lang="en-US" sz="4401" b="1" dirty="0">
                <a:solidFill>
                  <a:srgbClr val="FFFFFF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681425" y="5573101"/>
            <a:ext cx="4954443" cy="43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Gửi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Yêu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Cầu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Tham Gia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81425" y="7354474"/>
            <a:ext cx="3885591" cy="432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Xác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Nhận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619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619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Thông Báo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81425" y="4361276"/>
            <a:ext cx="7139850" cy="82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58"/>
              </a:lnSpc>
            </a:pP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tạo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với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môn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thể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thao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thời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số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lượng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chơi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mong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muốn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hiển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thị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đang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mở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để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kiếm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đối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phù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endParaRPr lang="en-US" sz="1798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690950" y="6211695"/>
            <a:ext cx="7139850" cy="82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58"/>
              </a:lnSpc>
            </a:pP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khác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kiếm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gửi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yêu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cầu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tham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phù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môn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thể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thao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thời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địa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điểm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Danh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sách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mở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được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cập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nhật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liên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tục</a:t>
            </a:r>
            <a:endParaRPr lang="en-US" sz="1798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0690950" y="8021513"/>
            <a:ext cx="7139850" cy="54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58"/>
              </a:lnSpc>
            </a:pP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Sau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phiên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ghép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đủ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thành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viên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tham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cập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nhật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trạng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thái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gửi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thông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báo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798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đẩy</a:t>
            </a:r>
            <a:r>
              <a:rPr lang="en-US" sz="1798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qua FCM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FFAE68B9-B52F-CFE1-C5B5-2BBEA0AC5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143"/>
          <a:stretch>
            <a:fillRect/>
          </a:stretch>
        </p:blipFill>
        <p:spPr bwMode="auto">
          <a:xfrm rot="5400000">
            <a:off x="1217448" y="1815369"/>
            <a:ext cx="6442760" cy="869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 flipV="1">
            <a:off x="-183894" y="-674598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3264897"/>
                </a:moveTo>
                <a:lnTo>
                  <a:pt x="0" y="3264897"/>
                </a:lnTo>
                <a:lnTo>
                  <a:pt x="0" y="0"/>
                </a:lnTo>
                <a:lnTo>
                  <a:pt x="2117840" y="0"/>
                </a:lnTo>
                <a:lnTo>
                  <a:pt x="2117840" y="326489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 rot="-5400000" flipH="1">
            <a:off x="16351493" y="-712127"/>
            <a:ext cx="2117840" cy="3264897"/>
          </a:xfrm>
          <a:custGeom>
            <a:avLst/>
            <a:gdLst/>
            <a:ahLst/>
            <a:cxnLst/>
            <a:rect l="l" t="t" r="r" b="b"/>
            <a:pathLst>
              <a:path w="2117840" h="3264897">
                <a:moveTo>
                  <a:pt x="2117840" y="0"/>
                </a:moveTo>
                <a:lnTo>
                  <a:pt x="0" y="0"/>
                </a:lnTo>
                <a:lnTo>
                  <a:pt x="0" y="3264898"/>
                </a:lnTo>
                <a:lnTo>
                  <a:pt x="2117840" y="3264898"/>
                </a:lnTo>
                <a:lnTo>
                  <a:pt x="21178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75183"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938494" y="9963150"/>
            <a:ext cx="16477376" cy="783580"/>
            <a:chOff x="0" y="0"/>
            <a:chExt cx="4339720" cy="206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39720" cy="206375"/>
            </a:xfrm>
            <a:custGeom>
              <a:avLst/>
              <a:gdLst/>
              <a:ahLst/>
              <a:cxnLst/>
              <a:rect l="l" t="t" r="r" b="b"/>
              <a:pathLst>
                <a:path w="4339720" h="206375">
                  <a:moveTo>
                    <a:pt x="203200" y="0"/>
                  </a:moveTo>
                  <a:lnTo>
                    <a:pt x="4339720" y="0"/>
                  </a:lnTo>
                  <a:lnTo>
                    <a:pt x="4136520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57150"/>
              <a:ext cx="4136520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024868" y="9963150"/>
            <a:ext cx="7295490" cy="783580"/>
            <a:chOff x="0" y="0"/>
            <a:chExt cx="1921446" cy="206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21446" cy="206375"/>
            </a:xfrm>
            <a:custGeom>
              <a:avLst/>
              <a:gdLst/>
              <a:ahLst/>
              <a:cxnLst/>
              <a:rect l="l" t="t" r="r" b="b"/>
              <a:pathLst>
                <a:path w="1921446" h="206375">
                  <a:moveTo>
                    <a:pt x="203200" y="0"/>
                  </a:moveTo>
                  <a:lnTo>
                    <a:pt x="1921446" y="0"/>
                  </a:lnTo>
                  <a:lnTo>
                    <a:pt x="1718246" y="206375"/>
                  </a:lnTo>
                  <a:lnTo>
                    <a:pt x="0" y="2063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600" y="-57150"/>
              <a:ext cx="1718246" cy="263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8664" y="3147755"/>
            <a:ext cx="2167566" cy="1862752"/>
            <a:chOff x="0" y="0"/>
            <a:chExt cx="812800" cy="698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32581" y="3147755"/>
            <a:ext cx="2167566" cy="1862752"/>
            <a:chOff x="0" y="0"/>
            <a:chExt cx="812800" cy="698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10800" y="3147755"/>
            <a:ext cx="2167566" cy="1862752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440416" y="3147755"/>
            <a:ext cx="2167566" cy="1862752"/>
            <a:chOff x="0" y="0"/>
            <a:chExt cx="8128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24A59"/>
            </a:solidFill>
            <a:ln w="85725" cap="sq">
              <a:solidFill>
                <a:srgbClr val="FFA916"/>
              </a:solidFill>
              <a:prstDash val="solid"/>
              <a:miter/>
            </a:ln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2353175" y="3273437"/>
            <a:ext cx="863173" cy="1572980"/>
          </a:xfrm>
          <a:custGeom>
            <a:avLst/>
            <a:gdLst/>
            <a:ahLst/>
            <a:cxnLst/>
            <a:rect l="l" t="t" r="r" b="b"/>
            <a:pathLst>
              <a:path w="863173" h="1572980">
                <a:moveTo>
                  <a:pt x="0" y="0"/>
                </a:moveTo>
                <a:lnTo>
                  <a:pt x="863173" y="0"/>
                </a:lnTo>
                <a:lnTo>
                  <a:pt x="863173" y="1572980"/>
                </a:lnTo>
                <a:lnTo>
                  <a:pt x="0" y="1572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385219" y="3593841"/>
            <a:ext cx="1261730" cy="967483"/>
          </a:xfrm>
          <a:custGeom>
            <a:avLst/>
            <a:gdLst/>
            <a:ahLst/>
            <a:cxnLst/>
            <a:rect l="l" t="t" r="r" b="b"/>
            <a:pathLst>
              <a:path w="1261730" h="967483">
                <a:moveTo>
                  <a:pt x="0" y="0"/>
                </a:moveTo>
                <a:lnTo>
                  <a:pt x="1261729" y="0"/>
                </a:lnTo>
                <a:lnTo>
                  <a:pt x="1261729" y="967483"/>
                </a:lnTo>
                <a:lnTo>
                  <a:pt x="0" y="9674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0808750" y="3513957"/>
            <a:ext cx="1046930" cy="1088121"/>
          </a:xfrm>
          <a:custGeom>
            <a:avLst/>
            <a:gdLst/>
            <a:ahLst/>
            <a:cxnLst/>
            <a:rect l="l" t="t" r="r" b="b"/>
            <a:pathLst>
              <a:path w="1046930" h="1088121">
                <a:moveTo>
                  <a:pt x="0" y="0"/>
                </a:moveTo>
                <a:lnTo>
                  <a:pt x="1046930" y="0"/>
                </a:lnTo>
                <a:lnTo>
                  <a:pt x="1046930" y="1088121"/>
                </a:lnTo>
                <a:lnTo>
                  <a:pt x="0" y="1088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4983773" y="3435540"/>
            <a:ext cx="1090950" cy="1106905"/>
          </a:xfrm>
          <a:custGeom>
            <a:avLst/>
            <a:gdLst/>
            <a:ahLst/>
            <a:cxnLst/>
            <a:rect l="l" t="t" r="r" b="b"/>
            <a:pathLst>
              <a:path w="1090950" h="1106905">
                <a:moveTo>
                  <a:pt x="0" y="0"/>
                </a:moveTo>
                <a:lnTo>
                  <a:pt x="1090950" y="0"/>
                </a:lnTo>
                <a:lnTo>
                  <a:pt x="1090950" y="1106905"/>
                </a:lnTo>
                <a:lnTo>
                  <a:pt x="0" y="11069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317945" y="1009650"/>
            <a:ext cx="765211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4"/>
              </a:lnSpc>
            </a:pPr>
            <a:r>
              <a:rPr lang="en-US" sz="45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Kết</a:t>
            </a:r>
            <a:r>
              <a:rPr lang="en-US" sz="45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5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Quả</a:t>
            </a:r>
            <a:r>
              <a:rPr lang="en-US" sz="4500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Đạt </a:t>
            </a:r>
            <a:r>
              <a:rPr lang="en-US" sz="4500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Được</a:t>
            </a:r>
            <a:endParaRPr lang="en-US" sz="4500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84511" y="5503627"/>
            <a:ext cx="40005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67"/>
              </a:lnSpc>
            </a:pP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Ứng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Dụng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Android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Web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6281620"/>
            <a:ext cx="375631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/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Hoàn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thiện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ứng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dụng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Android (Flutter)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W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ebsite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(React)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Hỗ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trợ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đầy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đủ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các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vai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trò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với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giao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diện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trực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quan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dễ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sử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dụng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689282" y="5325242"/>
            <a:ext cx="2653604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67"/>
              </a:lnSpc>
            </a:pP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Quản Lý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Đặt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Sân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Trận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Đấu</a:t>
            </a:r>
            <a:endParaRPr lang="en-US" sz="2406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282617" y="6281620"/>
            <a:ext cx="375631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/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trực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tuyến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kiểm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tra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trùng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tự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động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lịch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cố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định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.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kiếm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đối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tạo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tham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tiện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lợi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trên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Android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829800" y="5341820"/>
            <a:ext cx="28956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67"/>
              </a:lnSpc>
            </a:pP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Xác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Thực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Firebase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Thông Báo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Đẩy</a:t>
            </a:r>
            <a:endParaRPr lang="en-US" sz="2406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536535" y="6281620"/>
            <a:ext cx="3467493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/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Xác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thực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tài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khoản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qua Firebase Authentication.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Gửi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thông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báo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đẩy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thời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gian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thực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qua FCM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mọi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sự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kiện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đấu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790452" y="5341820"/>
            <a:ext cx="346749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67"/>
              </a:lnSpc>
            </a:pP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Tích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Hợp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Thanh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Toán</a:t>
            </a:r>
            <a:r>
              <a:rPr lang="en-US" sz="2406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2406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ZaloPay</a:t>
            </a:r>
            <a:endParaRPr lang="en-US" sz="2406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790452" y="6281620"/>
            <a:ext cx="3467493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/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Hỗ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trợ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tiền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mặt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tích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cổng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ZaloPay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Sandbox.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787783">
            <a:off x="1765300" y="10149589"/>
            <a:ext cx="13758345" cy="7410406"/>
            <a:chOff x="0" y="0"/>
            <a:chExt cx="1296853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787783">
            <a:off x="5129591" y="9086430"/>
            <a:ext cx="13531543" cy="3065584"/>
            <a:chOff x="0" y="0"/>
            <a:chExt cx="3083192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787783">
            <a:off x="10578981" y="-1870630"/>
            <a:ext cx="13758345" cy="7410406"/>
            <a:chOff x="0" y="0"/>
            <a:chExt cx="1296853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787783">
            <a:off x="9316170" y="-96463"/>
            <a:ext cx="14503583" cy="7811799"/>
            <a:chOff x="0" y="0"/>
            <a:chExt cx="1296853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1813147">
            <a:off x="9836813" y="1312669"/>
            <a:ext cx="8743695" cy="7661663"/>
          </a:xfrm>
          <a:custGeom>
            <a:avLst/>
            <a:gdLst/>
            <a:ahLst/>
            <a:cxnLst/>
            <a:rect l="l" t="t" r="r" b="b"/>
            <a:pathLst>
              <a:path w="8743695" h="7661663">
                <a:moveTo>
                  <a:pt x="0" y="0"/>
                </a:moveTo>
                <a:lnTo>
                  <a:pt x="8743694" y="0"/>
                </a:lnTo>
                <a:lnTo>
                  <a:pt x="8743694" y="7661662"/>
                </a:lnTo>
                <a:lnTo>
                  <a:pt x="0" y="766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595487" y="939081"/>
            <a:ext cx="7226346" cy="8408839"/>
            <a:chOff x="0" y="0"/>
            <a:chExt cx="6985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819302" y="1229804"/>
            <a:ext cx="6778716" cy="7827392"/>
            <a:chOff x="0" y="0"/>
            <a:chExt cx="31287555" cy="361277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287467" cy="36127817"/>
            </a:xfrm>
            <a:custGeom>
              <a:avLst/>
              <a:gdLst/>
              <a:ahLst/>
              <a:cxnLst/>
              <a:rect l="l" t="t" r="r" b="b"/>
              <a:pathLst>
                <a:path w="31287467" h="36127817">
                  <a:moveTo>
                    <a:pt x="15643733" y="0"/>
                  </a:moveTo>
                  <a:lnTo>
                    <a:pt x="0" y="9031859"/>
                  </a:lnTo>
                  <a:lnTo>
                    <a:pt x="0" y="27095831"/>
                  </a:lnTo>
                  <a:lnTo>
                    <a:pt x="15643733" y="36127817"/>
                  </a:lnTo>
                  <a:lnTo>
                    <a:pt x="31287467" y="27095958"/>
                  </a:lnTo>
                  <a:lnTo>
                    <a:pt x="31287467" y="9031859"/>
                  </a:lnTo>
                  <a:lnTo>
                    <a:pt x="15643861" y="0"/>
                  </a:lnTo>
                  <a:close/>
                </a:path>
              </a:pathLst>
            </a:custGeom>
            <a:blipFill>
              <a:blip r:embed="rId4"/>
              <a:stretch>
                <a:fillRect t="-3540" b="-354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1895475"/>
            <a:ext cx="862012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88"/>
              </a:lnSpc>
              <a:spcBef>
                <a:spcPct val="0"/>
              </a:spcBef>
            </a:pPr>
            <a:r>
              <a:rPr lang="en-US" sz="4200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Kết</a:t>
            </a:r>
            <a:r>
              <a:rPr lang="en-US" sz="4200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Luận </a:t>
            </a:r>
            <a:r>
              <a:rPr lang="en-US" sz="4200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và</a:t>
            </a:r>
            <a:r>
              <a:rPr lang="en-US" sz="4200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200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Hướng</a:t>
            </a:r>
            <a:r>
              <a:rPr lang="en-US" sz="4200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200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Phát</a:t>
            </a:r>
            <a:r>
              <a:rPr lang="en-US" sz="4200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4200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Triển</a:t>
            </a:r>
            <a:endParaRPr lang="en-US" sz="4200" b="1" u="none" strike="noStrike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2844298"/>
            <a:ext cx="8512488" cy="380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Kết</a:t>
            </a:r>
            <a:r>
              <a:rPr lang="en-US" sz="1999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999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luận</a:t>
            </a:r>
            <a:r>
              <a:rPr lang="en-US" sz="1999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•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Hệ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thống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góp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phần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số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hóa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khu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liên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hợp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thể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thao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hiệu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</a:t>
            </a:r>
            <a:endParaRPr lang="en-US" sz="1999" u="none" strike="noStrike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•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Tăng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tiện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lợi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cho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đặt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sân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và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tìm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đối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thủ</a:t>
            </a:r>
            <a:endParaRPr lang="en-US" sz="1999" u="none" strike="noStrike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•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Hỗ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trợ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nhân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viên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/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quản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trị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theo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dõi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vận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hành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tập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trung</a:t>
            </a:r>
            <a:endParaRPr lang="en-US" sz="1999" u="none" strike="noStrike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endParaRPr lang="en-US" sz="1999" u="none" strike="noStrike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Hướng</a:t>
            </a:r>
            <a:r>
              <a:rPr lang="en-US" sz="1999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999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phát</a:t>
            </a:r>
            <a:r>
              <a:rPr lang="en-US" sz="1999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999" b="1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triển</a:t>
            </a:r>
            <a:r>
              <a:rPr lang="en-US" sz="1999" b="1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: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• Hoàn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thiện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thanh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toán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thực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tế</a:t>
            </a:r>
            <a:endParaRPr lang="en-US" sz="1999" u="none" strike="noStrike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•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Triển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khai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ứng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dụng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iOS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•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Gợi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ý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ghép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trận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bằng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AI/ML</a:t>
            </a:r>
          </a:p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•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Tối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ưu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trải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nghiệm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người</a:t>
            </a:r>
            <a:r>
              <a:rPr lang="en-US" sz="1999" u="none" strike="noStrike" dirty="0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</a:t>
            </a:r>
            <a:r>
              <a:rPr lang="en-US" sz="1999" u="none" strike="noStrike" dirty="0" err="1">
                <a:solidFill>
                  <a:srgbClr val="000000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dùng</a:t>
            </a:r>
            <a:endParaRPr lang="en-US" sz="1999" u="none" strike="noStrike" dirty="0">
              <a:solidFill>
                <a:srgbClr val="000000"/>
              </a:solidFill>
              <a:latin typeface="Arial" panose="020B0604020202020204" pitchFamily="34" charset="0"/>
              <a:ea typeface="Poppins"/>
              <a:cs typeface="Arial" panose="020B0604020202020204" pitchFamily="34" charset="0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787783">
            <a:off x="1765300" y="10149589"/>
            <a:ext cx="13758345" cy="7410406"/>
            <a:chOff x="0" y="0"/>
            <a:chExt cx="1296853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1787783">
            <a:off x="5129591" y="9086430"/>
            <a:ext cx="13531543" cy="3065584"/>
            <a:chOff x="0" y="0"/>
            <a:chExt cx="3083192" cy="698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3192" cy="698500"/>
            </a:xfrm>
            <a:custGeom>
              <a:avLst/>
              <a:gdLst/>
              <a:ahLst/>
              <a:cxnLst/>
              <a:rect l="l" t="t" r="r" b="b"/>
              <a:pathLst>
                <a:path w="3083192" h="698500">
                  <a:moveTo>
                    <a:pt x="3083192" y="349250"/>
                  </a:moveTo>
                  <a:lnTo>
                    <a:pt x="28799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879992" y="0"/>
                  </a:lnTo>
                  <a:lnTo>
                    <a:pt x="3083192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300" y="-57150"/>
              <a:ext cx="285459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-1787783">
            <a:off x="10578981" y="-1870630"/>
            <a:ext cx="13758345" cy="7410406"/>
            <a:chOff x="0" y="0"/>
            <a:chExt cx="1296853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1787783">
            <a:off x="9316170" y="-96463"/>
            <a:ext cx="14503583" cy="7811799"/>
            <a:chOff x="0" y="0"/>
            <a:chExt cx="1296853" cy="698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853" cy="698500"/>
            </a:xfrm>
            <a:custGeom>
              <a:avLst/>
              <a:gdLst/>
              <a:ahLst/>
              <a:cxnLst/>
              <a:rect l="l" t="t" r="r" b="b"/>
              <a:pathLst>
                <a:path w="1296853" h="698500">
                  <a:moveTo>
                    <a:pt x="1296853" y="349250"/>
                  </a:moveTo>
                  <a:lnTo>
                    <a:pt x="10936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093653" y="0"/>
                  </a:lnTo>
                  <a:lnTo>
                    <a:pt x="1296853" y="349250"/>
                  </a:lnTo>
                  <a:close/>
                </a:path>
              </a:pathLst>
            </a:custGeom>
            <a:solidFill>
              <a:srgbClr val="FFA916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" y="-57150"/>
              <a:ext cx="1068253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 rot="-1813147">
            <a:off x="9836813" y="1312669"/>
            <a:ext cx="8743695" cy="7661663"/>
          </a:xfrm>
          <a:custGeom>
            <a:avLst/>
            <a:gdLst/>
            <a:ahLst/>
            <a:cxnLst/>
            <a:rect l="l" t="t" r="r" b="b"/>
            <a:pathLst>
              <a:path w="8743695" h="7661663">
                <a:moveTo>
                  <a:pt x="0" y="0"/>
                </a:moveTo>
                <a:lnTo>
                  <a:pt x="8743694" y="0"/>
                </a:lnTo>
                <a:lnTo>
                  <a:pt x="8743694" y="7661662"/>
                </a:lnTo>
                <a:lnTo>
                  <a:pt x="0" y="7661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0595487" y="939081"/>
            <a:ext cx="7226346" cy="8408839"/>
            <a:chOff x="0" y="0"/>
            <a:chExt cx="6985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24A59"/>
            </a:solid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819302" y="1229804"/>
            <a:ext cx="6778716" cy="7827392"/>
            <a:chOff x="0" y="0"/>
            <a:chExt cx="31287555" cy="3612777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287467" cy="36127817"/>
            </a:xfrm>
            <a:custGeom>
              <a:avLst/>
              <a:gdLst/>
              <a:ahLst/>
              <a:cxnLst/>
              <a:rect l="l" t="t" r="r" b="b"/>
              <a:pathLst>
                <a:path w="31287467" h="36127817">
                  <a:moveTo>
                    <a:pt x="15643733" y="0"/>
                  </a:moveTo>
                  <a:lnTo>
                    <a:pt x="0" y="9031859"/>
                  </a:lnTo>
                  <a:lnTo>
                    <a:pt x="0" y="27095831"/>
                  </a:lnTo>
                  <a:lnTo>
                    <a:pt x="15643733" y="36127817"/>
                  </a:lnTo>
                  <a:lnTo>
                    <a:pt x="31287467" y="27095958"/>
                  </a:lnTo>
                  <a:lnTo>
                    <a:pt x="31287467" y="9031859"/>
                  </a:lnTo>
                  <a:lnTo>
                    <a:pt x="15643861" y="0"/>
                  </a:lnTo>
                  <a:close/>
                </a:path>
              </a:pathLst>
            </a:custGeom>
            <a:blipFill>
              <a:blip r:embed="rId4"/>
              <a:stretch>
                <a:fillRect t="-3540" b="-3540"/>
              </a:stretch>
            </a:blipFill>
          </p:spPr>
          <p:txBody>
            <a:bodyPr/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28700" y="3673791"/>
            <a:ext cx="8618543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73"/>
              </a:lnSpc>
            </a:pPr>
            <a:r>
              <a:rPr lang="en-US" sz="1050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Xin </a:t>
            </a:r>
            <a:r>
              <a:rPr lang="en-US" sz="1050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Cảm</a:t>
            </a:r>
            <a:r>
              <a:rPr lang="en-US" sz="1050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10502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Ơn</a:t>
            </a:r>
            <a:r>
              <a:rPr lang="en-US" sz="10502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2424</Words>
  <Application>Microsoft Office PowerPoint</Application>
  <PresentationFormat>Custom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ENERGY - Đề án 10 slide PPT</dc:title>
  <dc:creator>Nguyễn Hữu Anh</dc:creator>
  <cp:lastModifiedBy>Nguyễn Hữu Anh</cp:lastModifiedBy>
  <cp:revision>13</cp:revision>
  <dcterms:created xsi:type="dcterms:W3CDTF">2006-08-16T00:00:00Z</dcterms:created>
  <dcterms:modified xsi:type="dcterms:W3CDTF">2026-07-06T07:03:52Z</dcterms:modified>
  <dc:identifier>DAHNcyg68Js</dc:identifier>
</cp:coreProperties>
</file>